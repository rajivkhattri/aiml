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2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6858000" cx="12192000"/>
  <p:notesSz cx="6858000" cy="9144000"/>
  <p:embeddedFontLst>
    <p:embeddedFont>
      <p:font typeface="Palatino Linotype"/>
      <p:regular r:id="rId74"/>
      <p:bold r:id="rId75"/>
      <p:italic r:id="rId76"/>
      <p:boldItalic r:id="rId77"/>
    </p:embeddedFont>
    <p:embeddedFont>
      <p:font typeface="Book Antiqua"/>
      <p:regular r:id="rId78"/>
      <p:bold r:id="rId79"/>
      <p:italic r:id="rId80"/>
      <p:boldItalic r:id="rId81"/>
    </p:embeddedFont>
    <p:embeddedFont>
      <p:font typeface="Bell MT"/>
      <p:regular r:id="rId82"/>
      <p:bold r:id="rId83"/>
      <p:italic r:id="rId84"/>
      <p:boldItalic r:id="rId8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6" roundtripDataSignature="AMtx7mhlLUjnj95v0TPNq1vi1/5f0aif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0D0031-EDFE-4011-87DB-033B128B7D2B}">
  <a:tblStyle styleId="{520D0031-EDFE-4011-87DB-033B128B7D2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84" Type="http://schemas.openxmlformats.org/officeDocument/2006/relationships/font" Target="fonts/BellMT-italic.fntdata"/><Relationship Id="rId83" Type="http://schemas.openxmlformats.org/officeDocument/2006/relationships/font" Target="fonts/BellMT-bold.fntdata"/><Relationship Id="rId42" Type="http://schemas.openxmlformats.org/officeDocument/2006/relationships/slide" Target="slides/slide35.xml"/><Relationship Id="rId86" Type="http://customschemas.google.com/relationships/presentationmetadata" Target="metadata"/><Relationship Id="rId41" Type="http://schemas.openxmlformats.org/officeDocument/2006/relationships/slide" Target="slides/slide34.xml"/><Relationship Id="rId85" Type="http://schemas.openxmlformats.org/officeDocument/2006/relationships/font" Target="fonts/BellMT-boldItalic.fntdata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80" Type="http://schemas.openxmlformats.org/officeDocument/2006/relationships/font" Target="fonts/BookAntiqua-italic.fntdata"/><Relationship Id="rId82" Type="http://schemas.openxmlformats.org/officeDocument/2006/relationships/font" Target="fonts/BellMT-regular.fntdata"/><Relationship Id="rId81" Type="http://schemas.openxmlformats.org/officeDocument/2006/relationships/font" Target="fonts/BookAntiqua-boldItalic.fntdata"/><Relationship Id="rId1" Type="http://schemas.openxmlformats.org/officeDocument/2006/relationships/theme" Target="theme/theme4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31" Type="http://schemas.openxmlformats.org/officeDocument/2006/relationships/slide" Target="slides/slide24.xml"/><Relationship Id="rId75" Type="http://schemas.openxmlformats.org/officeDocument/2006/relationships/font" Target="fonts/PalatinoLinotype-bold.fntdata"/><Relationship Id="rId30" Type="http://schemas.openxmlformats.org/officeDocument/2006/relationships/slide" Target="slides/slide23.xml"/><Relationship Id="rId74" Type="http://schemas.openxmlformats.org/officeDocument/2006/relationships/font" Target="fonts/PalatinoLinotype-regular.fntdata"/><Relationship Id="rId33" Type="http://schemas.openxmlformats.org/officeDocument/2006/relationships/slide" Target="slides/slide26.xml"/><Relationship Id="rId77" Type="http://schemas.openxmlformats.org/officeDocument/2006/relationships/font" Target="fonts/PalatinoLinotype-boldItalic.fntdata"/><Relationship Id="rId32" Type="http://schemas.openxmlformats.org/officeDocument/2006/relationships/slide" Target="slides/slide25.xml"/><Relationship Id="rId76" Type="http://schemas.openxmlformats.org/officeDocument/2006/relationships/font" Target="fonts/PalatinoLinotype-italic.fntdata"/><Relationship Id="rId35" Type="http://schemas.openxmlformats.org/officeDocument/2006/relationships/slide" Target="slides/slide28.xml"/><Relationship Id="rId79" Type="http://schemas.openxmlformats.org/officeDocument/2006/relationships/font" Target="fonts/BookAntiqua-bold.fntdata"/><Relationship Id="rId34" Type="http://schemas.openxmlformats.org/officeDocument/2006/relationships/slide" Target="slides/slide27.xml"/><Relationship Id="rId78" Type="http://schemas.openxmlformats.org/officeDocument/2006/relationships/font" Target="fonts/BookAntiqua-regular.fntdata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20" Type="http://schemas.openxmlformats.org/officeDocument/2006/relationships/slide" Target="slides/slide13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22" Type="http://schemas.openxmlformats.org/officeDocument/2006/relationships/slide" Target="slides/slide15.xml"/><Relationship Id="rId66" Type="http://schemas.openxmlformats.org/officeDocument/2006/relationships/slide" Target="slides/slide59.xml"/><Relationship Id="rId21" Type="http://schemas.openxmlformats.org/officeDocument/2006/relationships/slide" Target="slides/slide14.xml"/><Relationship Id="rId65" Type="http://schemas.openxmlformats.org/officeDocument/2006/relationships/slide" Target="slides/slide58.xml"/><Relationship Id="rId24" Type="http://schemas.openxmlformats.org/officeDocument/2006/relationships/slide" Target="slides/slide17.xml"/><Relationship Id="rId68" Type="http://schemas.openxmlformats.org/officeDocument/2006/relationships/slide" Target="slides/slide61.xml"/><Relationship Id="rId23" Type="http://schemas.openxmlformats.org/officeDocument/2006/relationships/slide" Target="slides/slide16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69" Type="http://schemas.openxmlformats.org/officeDocument/2006/relationships/slide" Target="slides/slide6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slide" Target="slides/slide50.xml"/><Relationship Id="rId12" Type="http://schemas.openxmlformats.org/officeDocument/2006/relationships/slide" Target="slides/slide5.xml"/><Relationship Id="rId56" Type="http://schemas.openxmlformats.org/officeDocument/2006/relationships/slide" Target="slides/slide49.xml"/><Relationship Id="rId15" Type="http://schemas.openxmlformats.org/officeDocument/2006/relationships/slide" Target="slides/slide8.xml"/><Relationship Id="rId59" Type="http://schemas.openxmlformats.org/officeDocument/2006/relationships/slide" Target="slides/slide52.xml"/><Relationship Id="rId14" Type="http://schemas.openxmlformats.org/officeDocument/2006/relationships/slide" Target="slides/slide7.xml"/><Relationship Id="rId58" Type="http://schemas.openxmlformats.org/officeDocument/2006/relationships/slide" Target="slides/slide5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6" name="Google Shape;49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5" name="Google Shape;51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3" name="Google Shape;533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8" name="Google Shape;54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8" name="Google Shape;65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4" name="Google Shape;74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61" name="Google Shape;761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68" name="Google Shape;768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85" name="Google Shape;785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3" name="Google Shape;793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4" name="Google Shape;834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1" name="Google Shape;85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0" name="Google Shape;86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82" name="Google Shape;882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05" name="Google Shape;905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9" name="Google Shape;959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6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4" name="Google Shape;100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6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1" name="Google Shape;1021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p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3" name="Google Shape;1053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6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9" name="Google Shape;1069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6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7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7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7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7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7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7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Bell M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" name="Google Shape;44;p72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3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  <p:sp>
        <p:nvSpPr>
          <p:cNvPr id="48" name="Google Shape;48;p7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7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7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7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7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7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7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7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7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7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7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7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7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7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Bell MT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7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7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7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7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7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7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7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7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7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8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8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8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8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8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8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8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8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8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8" name="Google Shape;108;p8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8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8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8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8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4" name="Google Shape;114;p8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8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8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8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8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8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8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8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8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7" name="Google Shape;127;p8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8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8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8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8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8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8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8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8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8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8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8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45" name="Google Shape;145;p8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6" name="Google Shape;146;p8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8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8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9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9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53" name="Google Shape;153;p9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9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9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9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9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9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9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9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9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9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9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9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7" name="Google Shape;177;p9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9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9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9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3" name="Google Shape;183;p9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9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5" name="Google Shape;185;p9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9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9" name="Google Shape;189;p9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9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9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9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5" name="Google Shape;195;p9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6" name="Google Shape;196;p9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" name="Google Shape;197;p9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9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9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2" name="Google Shape;202;p9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3" name="Google Shape;203;p9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204" name="Google Shape;204;p9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9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9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9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9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9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9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5" name="Google Shape;215;p10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0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" name="Google Shape;219;p10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20" name="Google Shape;220;p10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10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0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0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0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27" name="Google Shape;227;p10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228" name="Google Shape;228;p10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0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10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0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10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4" name="Google Shape;234;p10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10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10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10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0" name="Google Shape;240;p10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0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  <a:defRPr b="1" i="0" sz="48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6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5" name="Google Shape;15;p6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1670"/>
            <a:ext cx="1584350" cy="313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247716" y="-21168"/>
            <a:ext cx="1001681" cy="308476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5" name="Google Shape;95;p8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8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8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8" name="Google Shape;98;p8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0" name="Google Shape;170;p9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1" name="Google Shape;171;p9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9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9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3.png"/><Relationship Id="rId4" Type="http://schemas.openxmlformats.org/officeDocument/2006/relationships/image" Target="../media/image2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5.png"/><Relationship Id="rId4" Type="http://schemas.openxmlformats.org/officeDocument/2006/relationships/image" Target="../media/image32.png"/><Relationship Id="rId5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38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Relationship Id="rId4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8.png"/><Relationship Id="rId4" Type="http://schemas.openxmlformats.org/officeDocument/2006/relationships/image" Target="../media/image4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7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0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1.png"/><Relationship Id="rId4" Type="http://schemas.openxmlformats.org/officeDocument/2006/relationships/image" Target="../media/image5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"/>
          <p:cNvSpPr txBox="1"/>
          <p:nvPr>
            <p:ph type="ctrTitle"/>
          </p:nvPr>
        </p:nvSpPr>
        <p:spPr>
          <a:xfrm>
            <a:off x="1425526" y="4837112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ell MT"/>
              <a:buNone/>
            </a:pP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br>
              <a:rPr lang="en" sz="3600"/>
            </a:br>
            <a:r>
              <a:rPr lang="en" sz="3600"/>
              <a:t>Understanding the Components of Learning.</a:t>
            </a:r>
            <a:br>
              <a:rPr lang="en" sz="3600"/>
            </a:br>
            <a:br>
              <a:rPr lang="en" sz="3600"/>
            </a:br>
            <a:r>
              <a:rPr lang="en" sz="3600"/>
              <a:t>A Classification Perspective.</a:t>
            </a:r>
            <a:br>
              <a:rPr lang="en" sz="3600"/>
            </a:br>
            <a:br>
              <a:rPr lang="en" sz="3600"/>
            </a:br>
            <a:endParaRPr sz="2400"/>
          </a:p>
        </p:txBody>
      </p:sp>
      <p:sp>
        <p:nvSpPr>
          <p:cNvPr id="249" name="Google Shape;24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3/2/2026</a:t>
            </a:r>
            <a:endParaRPr/>
          </a:p>
        </p:txBody>
      </p:sp>
      <p:sp>
        <p:nvSpPr>
          <p:cNvPr id="250" name="Google Shape;25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51" name="Google Shape;25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ow Machine Learning is Enhancing Digital Banking Services - TechPP" id="252" name="Google Shape;252;p1"/>
          <p:cNvPicPr preferRelativeResize="0"/>
          <p:nvPr/>
        </p:nvPicPr>
        <p:blipFill rotWithShape="1">
          <a:blip r:embed="rId3">
            <a:alphaModFix/>
          </a:blip>
          <a:srcRect b="1346" l="27216" r="24984" t="4573"/>
          <a:stretch/>
        </p:blipFill>
        <p:spPr>
          <a:xfrm>
            <a:off x="4662414" y="1552401"/>
            <a:ext cx="2670224" cy="3284711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"/>
          <p:cNvSpPr txBox="1"/>
          <p:nvPr/>
        </p:nvSpPr>
        <p:spPr>
          <a:xfrm>
            <a:off x="949276" y="272206"/>
            <a:ext cx="1009650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6CS012 – Artificial Intelligence and Machine Learning.</a:t>
            </a:r>
            <a:br>
              <a:rPr b="1" i="0" lang="en" sz="32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</a:br>
            <a:r>
              <a:rPr b="1" i="0" lang="en" sz="3200" u="none" cap="none" strike="noStrike">
                <a:solidFill>
                  <a:schemeClr val="dk1"/>
                </a:solidFill>
                <a:latin typeface="Bell MT"/>
                <a:ea typeface="Bell MT"/>
                <a:cs typeface="Bell MT"/>
                <a:sym typeface="Bell MT"/>
              </a:rPr>
              <a:t>				Lecture – 02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Learning Objectives:</a:t>
            </a:r>
            <a:endParaRPr/>
          </a:p>
        </p:txBody>
      </p:sp>
      <p:sp>
        <p:nvSpPr>
          <p:cNvPr id="259" name="Google Shape;259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260" name="Google Shape;260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61" name="Google Shape;261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2" name="Google Shape;26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6512" y="1947121"/>
            <a:ext cx="4417288" cy="368446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"/>
          <p:cNvSpPr txBox="1"/>
          <p:nvPr>
            <p:ph idx="1" type="body"/>
          </p:nvPr>
        </p:nvSpPr>
        <p:spPr>
          <a:xfrm>
            <a:off x="165422" y="2283771"/>
            <a:ext cx="6566682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Review key Machine Learning concepts from 5CS037.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Understand Logistic Regression for classification tasks.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latino Linotype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limitations of Logistic Regression.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Justify the need for Deep Learning.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"/>
          <p:cNvSpPr txBox="1"/>
          <p:nvPr>
            <p:ph type="title"/>
          </p:nvPr>
        </p:nvSpPr>
        <p:spPr>
          <a:xfrm>
            <a:off x="564563" y="865677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</a:pPr>
            <a:r>
              <a:rPr lang="en"/>
              <a:t>What is Learning?</a:t>
            </a:r>
            <a:endParaRPr/>
          </a:p>
        </p:txBody>
      </p:sp>
      <p:sp>
        <p:nvSpPr>
          <p:cNvPr id="269" name="Google Shape;269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270" name="Google Shape;270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71" name="Google Shape;27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The Learning Problems.</a:t>
            </a:r>
            <a:endParaRPr/>
          </a:p>
        </p:txBody>
      </p:sp>
      <p:sp>
        <p:nvSpPr>
          <p:cNvPr id="277" name="Google Shape;277;p4"/>
          <p:cNvSpPr txBox="1"/>
          <p:nvPr>
            <p:ph idx="1" type="body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</a:pPr>
            <a:r>
              <a:rPr b="1" lang="en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Task-Example: Identify the spam emails!!!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0C0C"/>
              </a:buClr>
              <a:buSzPts val="1800"/>
              <a:buChar char="•"/>
            </a:pPr>
            <a:r>
              <a:rPr b="1" lang="en" sz="1800">
                <a:solidFill>
                  <a:srgbClr val="0C0C0C"/>
                </a:solidFill>
                <a:latin typeface="Arial"/>
                <a:ea typeface="Arial"/>
                <a:cs typeface="Arial"/>
                <a:sym typeface="Arial"/>
              </a:rPr>
              <a:t>(Program a machine that learns how to filter spam emails.)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78" name="Google Shape;278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279" name="Google Shape;279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80" name="Google Shape;28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81" name="Google Shape;2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2395" y="2605864"/>
            <a:ext cx="8830733" cy="3593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The Expert System – Rule Based.</a:t>
            </a:r>
            <a:endParaRPr/>
          </a:p>
        </p:txBody>
      </p:sp>
      <p:pic>
        <p:nvPicPr>
          <p:cNvPr id="287" name="Google Shape;287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8677" y="2343140"/>
            <a:ext cx="10071465" cy="277392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289" name="Google Shape;28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90" name="Google Shape;29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Limitations of Expert System</a:t>
            </a:r>
            <a:endParaRPr/>
          </a:p>
        </p:txBody>
      </p:sp>
      <p:sp>
        <p:nvSpPr>
          <p:cNvPr id="296" name="Google Shape;29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297" name="Google Shape;29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298" name="Google Shape;29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99" name="Google Shape;29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83593" y="1863670"/>
            <a:ext cx="4680114" cy="4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6"/>
          <p:cNvSpPr txBox="1"/>
          <p:nvPr>
            <p:ph idx="1" type="body"/>
          </p:nvPr>
        </p:nvSpPr>
        <p:spPr>
          <a:xfrm>
            <a:off x="838199" y="2356810"/>
            <a:ext cx="6336323" cy="31393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b="1" lang="en" sz="2200">
                <a:latin typeface="Arial"/>
                <a:ea typeface="Arial"/>
                <a:cs typeface="Arial"/>
                <a:sym typeface="Arial"/>
              </a:rPr>
              <a:t>I</a:t>
            </a:r>
            <a:r>
              <a:rPr b="1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nterpretability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Rules are manually crafted and limited to specific domains.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latino Linotype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Static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Cannot adapt to changing logic; rewriting required.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397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</a:pPr>
            <a:r>
              <a:rPr b="1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Shallow</a:t>
            </a:r>
            <a:r>
              <a:rPr b="0" i="0" lang="e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Lacks deep understanding, relies on memorizing features of data.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7"/>
          <p:cNvSpPr txBox="1"/>
          <p:nvPr>
            <p:ph type="title"/>
          </p:nvPr>
        </p:nvSpPr>
        <p:spPr>
          <a:xfrm>
            <a:off x="838200" y="32292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000"/>
              <a:buFont typeface="Bell MT"/>
              <a:buNone/>
            </a:pPr>
            <a:r>
              <a:rPr lang="en" sz="4000">
                <a:solidFill>
                  <a:srgbClr val="002060"/>
                </a:solidFill>
              </a:rPr>
              <a:t>Learning from Data – Machine Learning</a:t>
            </a:r>
            <a:endParaRPr sz="4000">
              <a:solidFill>
                <a:srgbClr val="002060"/>
              </a:solidFill>
            </a:endParaRPr>
          </a:p>
        </p:txBody>
      </p:sp>
      <p:sp>
        <p:nvSpPr>
          <p:cNvPr id="306" name="Google Shape;306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07" name="Google Shape;307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08" name="Google Shape;30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09" name="Google Shape;30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0" y="2053521"/>
            <a:ext cx="6515100" cy="397036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7"/>
          <p:cNvSpPr txBox="1"/>
          <p:nvPr>
            <p:ph idx="1" type="body"/>
          </p:nvPr>
        </p:nvSpPr>
        <p:spPr>
          <a:xfrm>
            <a:off x="152400" y="2269008"/>
            <a:ext cx="5334000" cy="37548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Instead of manually defining decision rules, machines </a:t>
            </a:r>
            <a:r>
              <a:rPr b="1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</a:t>
            </a: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from data: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200"/>
              <a:buNone/>
            </a:pPr>
            <a:r>
              <a:rPr b="1" i="0" lang="en" sz="2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Training data</a:t>
            </a:r>
            <a:r>
              <a:rPr b="0" i="0" lang="en" sz="2200" u="none" cap="none" strike="noStrike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Pairs of inputs (x) and outputs (y).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" sz="2200"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Videos labeled as "cat" or "no cat."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0" i="0" lang="en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Emails labeled as "spam" or "not spam."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What is Machine Learning?</a:t>
            </a:r>
            <a:endParaRPr/>
          </a:p>
        </p:txBody>
      </p:sp>
      <p:sp>
        <p:nvSpPr>
          <p:cNvPr id="316" name="Google Shape;316;p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" sz="1800"/>
              <a:t>What Legend has to say about it?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F3864"/>
              </a:buClr>
              <a:buSzPts val="1600"/>
              <a:buChar char="•"/>
            </a:pPr>
            <a:r>
              <a:rPr b="1" lang="en" sz="1600">
                <a:solidFill>
                  <a:srgbClr val="1F3864"/>
                </a:solidFill>
              </a:rPr>
              <a:t>“Learning is any process by which a system improves performance from experience”.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200"/>
              <a:buChar char="•"/>
            </a:pPr>
            <a:r>
              <a:rPr b="1" lang="en" sz="1200">
                <a:solidFill>
                  <a:srgbClr val="002060"/>
                </a:solidFill>
              </a:rPr>
              <a:t>Herbert Simon</a:t>
            </a:r>
            <a:endParaRPr/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solidFill>
                <a:srgbClr val="7F6000"/>
              </a:solidFill>
            </a:endParaRPr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solidFill>
                <a:srgbClr val="7F6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solidFill>
                <a:srgbClr val="7F6000"/>
              </a:solidFill>
            </a:endParaRPr>
          </a:p>
          <a:p>
            <a:pPr indent="-1270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b="1" sz="1600">
              <a:solidFill>
                <a:srgbClr val="7F6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1600"/>
              <a:buChar char="•"/>
            </a:pPr>
            <a:r>
              <a:rPr b="1" lang="en" sz="1600">
                <a:solidFill>
                  <a:srgbClr val="7F6000"/>
                </a:solidFill>
              </a:rPr>
              <a:t>“Field of study that gives computers the ability to learn without being explicitly programmed.”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6000"/>
              </a:buClr>
              <a:buSzPts val="1100"/>
              <a:buChar char="•"/>
            </a:pPr>
            <a:r>
              <a:rPr b="1" lang="en" sz="1100">
                <a:solidFill>
                  <a:srgbClr val="7F6000"/>
                </a:solidFill>
              </a:rPr>
              <a:t>Arthur Samuel ,1959  (an AI pioneer at IBM and founding fellow of </a:t>
            </a:r>
            <a:r>
              <a:rPr b="1" lang="en" sz="1100">
                <a:solidFill>
                  <a:srgbClr val="FF0000"/>
                </a:solidFill>
              </a:rPr>
              <a:t>Association for the advancement of Artificial Intelligence</a:t>
            </a:r>
            <a:r>
              <a:rPr b="1" lang="en" sz="1100">
                <a:solidFill>
                  <a:srgbClr val="7F6000"/>
                </a:solidFill>
              </a:rPr>
              <a:t>).</a:t>
            </a:r>
            <a:endParaRPr b="1" sz="1100">
              <a:solidFill>
                <a:srgbClr val="7F600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>
              <a:solidFill>
                <a:srgbClr val="002060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1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5623"/>
              </a:buClr>
              <a:buSzPts val="1600"/>
              <a:buChar char="•"/>
            </a:pPr>
            <a:r>
              <a:rPr b="1" lang="en" sz="1600">
                <a:solidFill>
                  <a:srgbClr val="385623"/>
                </a:solidFill>
              </a:rPr>
              <a:t>Definition by Tom Mitchel(1998):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1600"/>
              <a:buChar char="•"/>
            </a:pPr>
            <a:r>
              <a:rPr b="1" lang="en" sz="1600">
                <a:solidFill>
                  <a:srgbClr val="385623"/>
                </a:solidFill>
              </a:rPr>
              <a:t>Machine Learning is the study of algorithms that:</a:t>
            </a:r>
            <a:endParaRPr/>
          </a:p>
          <a:p>
            <a:pPr indent="-228600" lvl="3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33C0B"/>
              </a:buClr>
              <a:buSzPts val="1600"/>
              <a:buChar char="•"/>
            </a:pPr>
            <a:r>
              <a:rPr b="1" lang="en" sz="1600">
                <a:solidFill>
                  <a:srgbClr val="833C0B"/>
                </a:solidFill>
              </a:rPr>
              <a:t>Improve their performance P</a:t>
            </a:r>
            <a:endParaRPr/>
          </a:p>
          <a:p>
            <a:pPr indent="-228600" lvl="3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6000"/>
              </a:buClr>
              <a:buSzPts val="1600"/>
              <a:buChar char="•"/>
            </a:pPr>
            <a:r>
              <a:rPr b="1" lang="en" sz="1600">
                <a:solidFill>
                  <a:srgbClr val="7F6000"/>
                </a:solidFill>
              </a:rPr>
              <a:t>At some task T</a:t>
            </a:r>
            <a:endParaRPr/>
          </a:p>
          <a:p>
            <a:pPr indent="-228600" lvl="3" marL="1143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55A11"/>
              </a:buClr>
              <a:buSzPts val="1600"/>
              <a:buChar char="•"/>
            </a:pPr>
            <a:r>
              <a:rPr b="1" lang="en" sz="1600">
                <a:solidFill>
                  <a:srgbClr val="C55A11"/>
                </a:solidFill>
              </a:rPr>
              <a:t>With experience E</a:t>
            </a:r>
            <a:endParaRPr/>
          </a:p>
          <a:p>
            <a:pPr indent="-228600" lvl="2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5623"/>
              </a:buClr>
              <a:buSzPts val="1600"/>
              <a:buChar char="•"/>
            </a:pPr>
            <a:r>
              <a:rPr b="1" lang="en" sz="1600">
                <a:solidFill>
                  <a:srgbClr val="385623"/>
                </a:solidFill>
              </a:rPr>
              <a:t>A well defined learning task is given by &lt;P, T, E&gt;.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19" name="Google Shape;319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20" name="Google Shape;320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21" name="Google Shape;32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72865" y="2739976"/>
            <a:ext cx="993734" cy="1457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2454" y="5309501"/>
            <a:ext cx="957155" cy="957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24187" y="4085072"/>
            <a:ext cx="871804" cy="87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Tasks that Require Machine Learning.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9" name="Google Shape;32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makes a 2?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What distinguishes a 2 from 7?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31" name="Google Shape;3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32" name="Google Shape;3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3" name="Google Shape;33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7420" y="3060527"/>
            <a:ext cx="4582107" cy="251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9"/>
          <p:cNvSpPr txBox="1"/>
          <p:nvPr/>
        </p:nvSpPr>
        <p:spPr>
          <a:xfrm>
            <a:off x="5718747" y="2460362"/>
            <a:ext cx="664797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Mitchel Tom Definition: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T: Recognize  hand written digits.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P: Percentage of digit recognized correctly.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E: Database of human-labeled images of handwritten digits.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Bell MT"/>
              <a:buNone/>
            </a:pPr>
            <a:r>
              <a:rPr lang="en" sz="3200">
                <a:solidFill>
                  <a:srgbClr val="002060"/>
                </a:solidFill>
              </a:rPr>
              <a:t>Machine Learning Vs. Traditional Programming.</a:t>
            </a:r>
            <a:endParaRPr sz="3200">
              <a:solidFill>
                <a:srgbClr val="002060"/>
              </a:solidFill>
            </a:endParaRPr>
          </a:p>
        </p:txBody>
      </p:sp>
      <p:sp>
        <p:nvSpPr>
          <p:cNvPr id="340" name="Google Shape;340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41" name="Google Shape;341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42" name="Google Shape;342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Machine Learning vs. Traditional Programming Paradigm | Data Science Blog" id="343" name="Google Shape;343;p10"/>
          <p:cNvPicPr preferRelativeResize="0"/>
          <p:nvPr/>
        </p:nvPicPr>
        <p:blipFill rotWithShape="1">
          <a:blip r:embed="rId3">
            <a:alphaModFix/>
          </a:blip>
          <a:srcRect b="0" l="6366" r="0" t="15222"/>
          <a:stretch/>
        </p:blipFill>
        <p:spPr>
          <a:xfrm>
            <a:off x="2209800" y="2005282"/>
            <a:ext cx="7204365" cy="4852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What isn’t Machine Learning?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49" name="Google Shape;349;p11"/>
          <p:cNvSpPr txBox="1"/>
          <p:nvPr>
            <p:ph idx="1" type="body"/>
          </p:nvPr>
        </p:nvSpPr>
        <p:spPr>
          <a:xfrm>
            <a:off x="838200" y="1847850"/>
            <a:ext cx="5742709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500"/>
              <a:buNone/>
            </a:pPr>
            <a:r>
              <a:rPr lang="en" sz="2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Powerful but not magical!</a:t>
            </a:r>
            <a:endParaRPr sz="2500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Not </a:t>
            </a:r>
            <a:r>
              <a:rPr i="1" lang="en" sz="2500">
                <a:latin typeface="Times New Roman"/>
                <a:ea typeface="Times New Roman"/>
                <a:cs typeface="Times New Roman"/>
                <a:sym typeface="Times New Roman"/>
              </a:rPr>
              <a:t>Exactly 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Artificial Intelligence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solidFill>
                <a:srgbClr val="00206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500"/>
              <a:buNone/>
            </a:pPr>
            <a:r>
              <a:rPr lang="en" sz="2500">
                <a:solidFill>
                  <a:srgbClr val="00206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Limitations: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Not a path to robot singularity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Struggles with abstract reasoning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Not understanding, just processing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>
              <a:solidFill>
                <a:srgbClr val="99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t/>
            </a:r>
            <a:endParaRPr sz="3000">
              <a:solidFill>
                <a:srgbClr val="990000"/>
              </a:solidFill>
            </a:endParaRPr>
          </a:p>
        </p:txBody>
      </p:sp>
      <p:sp>
        <p:nvSpPr>
          <p:cNvPr id="350" name="Google Shape;350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51" name="Google Shape;351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52" name="Google Shape;352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I vs Machine Learning vs Deep Learning: What's the Difference?" id="353" name="Google Shape;353;p11"/>
          <p:cNvPicPr preferRelativeResize="0"/>
          <p:nvPr/>
        </p:nvPicPr>
        <p:blipFill rotWithShape="1">
          <a:blip r:embed="rId3">
            <a:alphaModFix/>
          </a:blip>
          <a:srcRect b="14871" l="9188" r="7447" t="-1976"/>
          <a:stretch/>
        </p:blipFill>
        <p:spPr>
          <a:xfrm>
            <a:off x="5666509" y="2097830"/>
            <a:ext cx="6345382" cy="34688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2"/>
          <p:cNvSpPr txBox="1"/>
          <p:nvPr>
            <p:ph type="ctrTitle"/>
          </p:nvPr>
        </p:nvSpPr>
        <p:spPr>
          <a:xfrm>
            <a:off x="0" y="0"/>
            <a:ext cx="11499273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Core Components in Machine Learning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59" name="Google Shape;359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60" name="Google Shape;360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61" name="Google Shape;361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Question mark pictures of questions marks clipart cliparting 4 – Clipartix" id="362" name="Google Shape;36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8310" y="2663319"/>
            <a:ext cx="3417311" cy="34173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type="title"/>
          </p:nvPr>
        </p:nvSpPr>
        <p:spPr>
          <a:xfrm>
            <a:off x="838200" y="30970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Types of Machine Learning</a:t>
            </a:r>
            <a:endParaRPr/>
          </a:p>
        </p:txBody>
      </p:sp>
      <p:sp>
        <p:nvSpPr>
          <p:cNvPr id="368" name="Google Shape;368;p13"/>
          <p:cNvSpPr txBox="1"/>
          <p:nvPr>
            <p:ph idx="1" type="body"/>
          </p:nvPr>
        </p:nvSpPr>
        <p:spPr>
          <a:xfrm>
            <a:off x="304805" y="1476592"/>
            <a:ext cx="6113038" cy="5062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Many different problem classes in machine learning. </a:t>
            </a:r>
            <a:endParaRPr sz="2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Vary according to what kind of data is provided and what kind of conclusions are to be drawn from it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" sz="2800">
                <a:latin typeface="Times New Roman"/>
                <a:ea typeface="Times New Roman"/>
                <a:cs typeface="Times New Roman"/>
                <a:sym typeface="Times New Roman"/>
              </a:rPr>
              <a:t>Some popular kinds 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9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Supervised Learning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Unsupervised Learning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9" name="Google Shape;369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70" name="Google Shape;370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Unlocking the Potential: The Ultimate Beginner's Guide to Machine ..." id="372" name="Google Shape;3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3879" y="1874760"/>
            <a:ext cx="5968121" cy="3579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Supervised Machine Learning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78" name="Google Shape;378;p14"/>
          <p:cNvSpPr txBox="1"/>
          <p:nvPr>
            <p:ph idx="1" type="body"/>
          </p:nvPr>
        </p:nvSpPr>
        <p:spPr>
          <a:xfrm>
            <a:off x="838200" y="1825625"/>
            <a:ext cx="32004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/>
              <a:t>Uses Labeled Dataset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/>
              <a:t>Types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/>
              <a:t>Classification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/>
              <a:t>Regression </a:t>
            </a:r>
            <a:endParaRPr/>
          </a:p>
        </p:txBody>
      </p:sp>
      <p:sp>
        <p:nvSpPr>
          <p:cNvPr id="379" name="Google Shape;379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80" name="Google Shape;380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81" name="Google Shape;381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ttps://lh7-rt.googleusercontent.com/slidesz/AGV_vUdVjuZk3X6-OkOnC8Q-LLdi0xWQNTCeopIyDpwF6dRZQ4lrShrmVtZYlkqczs71EpQ_FGYv-creI-qJHdWuit-B5ex2xb2cLcg1k23BC3JtU-Giw504Gy73bZvGy-X1DIPNSYQ9_7CXHx1u5RKpFsAJb6oEy0Kf=s2048?key=YvUWBtXN7jo_9V4Cou9iJw" id="382" name="Google Shape;38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27964" y="1545743"/>
            <a:ext cx="6165272" cy="472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Regression</a:t>
            </a:r>
            <a:endParaRPr>
              <a:solidFill>
                <a:srgbClr val="002060"/>
              </a:solidFill>
            </a:endParaRPr>
          </a:p>
        </p:txBody>
      </p:sp>
      <p:sp>
        <p:nvSpPr>
          <p:cNvPr id="388" name="Google Shape;38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89" name="Google Shape;38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390" name="Google Shape;39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15"/>
          <p:cNvSpPr txBox="1"/>
          <p:nvPr>
            <p:ph idx="1" type="body"/>
          </p:nvPr>
        </p:nvSpPr>
        <p:spPr>
          <a:xfrm>
            <a:off x="270164" y="1445891"/>
            <a:ext cx="5597236" cy="51552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continuous numerical values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Finds relationship between input features and target variable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Input: Numerical features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Output: Continuous numeric prediction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Goal: Minimizes prediction error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2" name="Google Shape;39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1445891"/>
            <a:ext cx="6258144" cy="4026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800"/>
              <a:buFont typeface="Bell MT"/>
              <a:buNone/>
            </a:pPr>
            <a:r>
              <a:rPr lang="en">
                <a:solidFill>
                  <a:srgbClr val="002060"/>
                </a:solidFill>
              </a:rPr>
              <a:t>Classification</a:t>
            </a:r>
            <a:r>
              <a:rPr lang="en"/>
              <a:t> </a:t>
            </a:r>
            <a:endParaRPr/>
          </a:p>
        </p:txBody>
      </p:sp>
      <p:sp>
        <p:nvSpPr>
          <p:cNvPr id="398" name="Google Shape;398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399" name="Google Shape;399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00" name="Google Shape;40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1" name="Google Shape;401;p16"/>
          <p:cNvSpPr txBox="1"/>
          <p:nvPr>
            <p:ph idx="1" type="body"/>
          </p:nvPr>
        </p:nvSpPr>
        <p:spPr>
          <a:xfrm>
            <a:off x="533400" y="2053748"/>
            <a:ext cx="5299364" cy="39395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alatino Linotype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Predicts discrete class labels </a:t>
            </a:r>
            <a:endParaRPr/>
          </a:p>
          <a:p>
            <a:pPr indent="-1587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Char char="•"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Maps input data to predefined categories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alatino Linotype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Input: Features (attributes)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Output: Discrete class/category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Learns from labeled training data</a:t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https://lh7-rt.googleusercontent.com/slidesz/AGV_vUdVjuZk3X6-OkOnC8Q-LLdi0xWQNTCeopIyDpwF6dRZQ4lrShrmVtZYlkqczs71EpQ_FGYv-creI-qJHdWuit-B5ex2xb2cLcg1k23BC3JtU-Giw504Gy73bZvGy-X1DIPNSYQ9_7CXHx1u5RKpFsAJb6oEy0Kf=s2048?key=YvUWBtXN7jo_9V4Cou9iJw" id="402" name="Google Shape;4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32764" y="1027906"/>
            <a:ext cx="6165272" cy="472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4800"/>
              <a:buFont typeface="Bell MT"/>
              <a:buNone/>
            </a:pPr>
            <a:r>
              <a:rPr lang="en">
                <a:solidFill>
                  <a:srgbClr val="990000"/>
                </a:solidFill>
              </a:rPr>
              <a:t>What do we want? </a:t>
            </a:r>
            <a:endParaRPr>
              <a:solidFill>
                <a:srgbClr val="990000"/>
              </a:solidFill>
            </a:endParaRPr>
          </a:p>
        </p:txBody>
      </p:sp>
      <p:sp>
        <p:nvSpPr>
          <p:cNvPr id="408" name="Google Shape;40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09" name="Google Shape;40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10" name="Google Shape;4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17"/>
          <p:cNvSpPr txBox="1"/>
          <p:nvPr>
            <p:ph idx="1" type="body"/>
          </p:nvPr>
        </p:nvSpPr>
        <p:spPr>
          <a:xfrm>
            <a:off x="489335" y="2577244"/>
            <a:ext cx="4459513" cy="3170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500"/>
              <a:buNone/>
            </a:pPr>
            <a:r>
              <a:rPr b="1" i="0" lang="en" sz="2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Learning</a:t>
            </a:r>
            <a:endParaRPr b="0" i="0" sz="2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Finding patterns in training data to create a model that makes predictions.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b="0" i="0" sz="25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500"/>
              <a:buNone/>
            </a:pPr>
            <a:r>
              <a:rPr b="1" i="0" lang="en" sz="2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Inference</a:t>
            </a:r>
            <a:endParaRPr b="0" i="0" sz="2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b="0" i="0" lang="en" sz="2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the model to predict and interpret outcomes for new data. </a:t>
            </a:r>
            <a:endParaRPr/>
          </a:p>
        </p:txBody>
      </p:sp>
      <p:pic>
        <p:nvPicPr>
          <p:cNvPr id="412" name="Google Shape;4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25143" y="1508126"/>
            <a:ext cx="5774104" cy="4663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Models</a:t>
            </a:r>
            <a:endParaRPr/>
          </a:p>
        </p:txBody>
      </p:sp>
      <p:pic>
        <p:nvPicPr>
          <p:cNvPr id="418" name="Google Shape;418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6354" l="0" r="1332" t="4863"/>
          <a:stretch/>
        </p:blipFill>
        <p:spPr>
          <a:xfrm>
            <a:off x="1828799" y="4405312"/>
            <a:ext cx="7358743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20" name="Google Shape;42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21" name="Google Shape;421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2" name="Google Shape;422;p18"/>
          <p:cNvSpPr/>
          <p:nvPr/>
        </p:nvSpPr>
        <p:spPr>
          <a:xfrm>
            <a:off x="834571" y="1265991"/>
            <a:ext cx="10519229" cy="34470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model (or hypothesis) is a function that maps feature vectors to predicted target values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= f(X; θ)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Where: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: Target Variable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: vector of input features 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Θ :Parameters that needs to be learned from the data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is meant to capture intrinsic patterns of the data, the underlying assumption being that these hold true for all data drawn from Pxy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Models in Hypothesis Space</a:t>
            </a:r>
            <a:endParaRPr/>
          </a:p>
        </p:txBody>
      </p:sp>
      <p:sp>
        <p:nvSpPr>
          <p:cNvPr id="428" name="Google Shape;428;p19"/>
          <p:cNvSpPr txBox="1"/>
          <p:nvPr>
            <p:ph idx="1" type="body"/>
          </p:nvPr>
        </p:nvSpPr>
        <p:spPr>
          <a:xfrm>
            <a:off x="838200" y="1825625"/>
            <a:ext cx="6564086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To find a "good" model, we must first decide on a specific type of model. This limits the options and makes the task manageable.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This predefined type is called a </a:t>
            </a: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structural prior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. The set of functions for this model type is the </a:t>
            </a:r>
            <a:r>
              <a:rPr b="1" lang="en" sz="2500">
                <a:latin typeface="Times New Roman"/>
                <a:ea typeface="Times New Roman"/>
                <a:cs typeface="Times New Roman"/>
                <a:sym typeface="Times New Roman"/>
              </a:rPr>
              <a:t>hypothesis space (H)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	H={f:f belongs to a specific functional family}.</a:t>
            </a:r>
            <a:endParaRPr/>
          </a:p>
        </p:txBody>
      </p:sp>
      <p:sp>
        <p:nvSpPr>
          <p:cNvPr id="429" name="Google Shape;42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30" name="Google Shape;43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31" name="Google Shape;43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Hypothesis in Machine Learning - GeeksforGeeks" id="432" name="Google Shape;432;p19"/>
          <p:cNvPicPr preferRelativeResize="0"/>
          <p:nvPr/>
        </p:nvPicPr>
        <p:blipFill rotWithShape="1">
          <a:blip r:embed="rId3">
            <a:alphaModFix/>
          </a:blip>
          <a:srcRect b="6732" l="1818" r="0" t="0"/>
          <a:stretch/>
        </p:blipFill>
        <p:spPr>
          <a:xfrm>
            <a:off x="7402286" y="2144940"/>
            <a:ext cx="4702628" cy="345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Parameterization</a:t>
            </a:r>
            <a:endParaRPr/>
          </a:p>
        </p:txBody>
      </p:sp>
      <p:sp>
        <p:nvSpPr>
          <p:cNvPr id="438" name="Google Shape;438;p20"/>
          <p:cNvSpPr txBox="1"/>
          <p:nvPr>
            <p:ph idx="1" type="body"/>
          </p:nvPr>
        </p:nvSpPr>
        <p:spPr>
          <a:xfrm>
            <a:off x="696687" y="1825624"/>
            <a:ext cx="5950856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0000">
                <a:latin typeface="Times New Roman"/>
                <a:ea typeface="Times New Roman"/>
                <a:cs typeface="Times New Roman"/>
                <a:sym typeface="Times New Roman"/>
              </a:rPr>
              <a:t>We collect all parameters in a parameter vector </a:t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10000">
                <a:latin typeface="Times New Roman"/>
                <a:ea typeface="Times New Roman"/>
                <a:cs typeface="Times New Roman"/>
                <a:sym typeface="Times New Roman"/>
              </a:rPr>
              <a:t>from parameter space Θ.</a:t>
            </a:r>
            <a:endParaRPr/>
          </a:p>
          <a:p>
            <a:pPr indent="-6985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0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" sz="10000">
                <a:latin typeface="Times New Roman"/>
                <a:ea typeface="Times New Roman"/>
                <a:cs typeface="Times New Roman"/>
                <a:sym typeface="Times New Roman"/>
              </a:rPr>
              <a:t>So,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10000">
                <a:latin typeface="Times New Roman"/>
                <a:ea typeface="Times New Roman"/>
                <a:cs typeface="Times New Roman"/>
                <a:sym typeface="Times New Roman"/>
              </a:rPr>
              <a:t>	Finding the optimal model is perfectly equivalent to finding the optimal set of parameter values.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439" name="Google Shape;43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40" name="Google Shape;44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41" name="Google Shape;44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2" name="Google Shape;442;p20"/>
          <p:cNvPicPr preferRelativeResize="0"/>
          <p:nvPr/>
        </p:nvPicPr>
        <p:blipFill rotWithShape="1">
          <a:blip r:embed="rId3">
            <a:alphaModFix/>
          </a:blip>
          <a:srcRect b="0" l="12536" r="0" t="-6137"/>
          <a:stretch/>
        </p:blipFill>
        <p:spPr>
          <a:xfrm>
            <a:off x="6647543" y="1825623"/>
            <a:ext cx="5265897" cy="371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7096" y="2579357"/>
            <a:ext cx="2921703" cy="6275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How? </a:t>
            </a:r>
            <a:endParaRPr/>
          </a:p>
        </p:txBody>
      </p:sp>
      <p:sp>
        <p:nvSpPr>
          <p:cNvPr id="449" name="Google Shape;449;p21"/>
          <p:cNvSpPr txBox="1"/>
          <p:nvPr>
            <p:ph idx="1" type="body"/>
          </p:nvPr>
        </p:nvSpPr>
        <p:spPr>
          <a:xfrm>
            <a:off x="838200" y="1825625"/>
            <a:ext cx="10250714" cy="1077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How do we fit or train the model so we get best set of parameters?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How do we determine which set of parameters best fits our function or model?</a:t>
            </a:r>
            <a:endParaRPr/>
          </a:p>
        </p:txBody>
      </p:sp>
      <p:sp>
        <p:nvSpPr>
          <p:cNvPr id="450" name="Google Shape;45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51" name="Google Shape;45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52" name="Google Shape;45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Cost Function</a:t>
            </a:r>
            <a:endParaRPr/>
          </a:p>
        </p:txBody>
      </p:sp>
      <p:sp>
        <p:nvSpPr>
          <p:cNvPr id="458" name="Google Shape;458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 cost function measures how well a model’s predictions match the actual target values. It quantifies the error.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2500"/>
              <a:buNone/>
            </a:pPr>
            <a:r>
              <a:rPr b="1" lang="en" sz="2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Goal</a:t>
            </a:r>
            <a:r>
              <a:rPr lang="en" sz="2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Find parameters that minimize the loss (Empirical Risk Minimization)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A big part of machine learning focuses on the question, </a:t>
            </a:r>
            <a:r>
              <a:rPr lang="en" sz="2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do this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990000"/>
              </a:buClr>
              <a:buSzPts val="2500"/>
              <a:buNone/>
            </a:pPr>
            <a:r>
              <a:rPr lang="en" sz="2500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minimization efficiently?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sp>
        <p:nvSpPr>
          <p:cNvPr id="459" name="Google Shape;459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60" name="Google Shape;460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61" name="Google Shape;461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2" name="Google Shape;462;p22"/>
          <p:cNvPicPr preferRelativeResize="0"/>
          <p:nvPr/>
        </p:nvPicPr>
        <p:blipFill rotWithShape="1">
          <a:blip r:embed="rId3">
            <a:alphaModFix/>
          </a:blip>
          <a:srcRect b="31804" l="7883" r="4891" t="11910"/>
          <a:stretch/>
        </p:blipFill>
        <p:spPr>
          <a:xfrm>
            <a:off x="3733800" y="3580379"/>
            <a:ext cx="5569857" cy="8418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Optimization Process</a:t>
            </a:r>
            <a:endParaRPr/>
          </a:p>
        </p:txBody>
      </p:sp>
      <p:pic>
        <p:nvPicPr>
          <p:cNvPr id="468" name="Google Shape;468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5172" r="0" t="0"/>
          <a:stretch/>
        </p:blipFill>
        <p:spPr>
          <a:xfrm>
            <a:off x="448128" y="1690688"/>
            <a:ext cx="7180943" cy="315398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70" name="Google Shape;4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71" name="Google Shape;4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23"/>
          <p:cNvSpPr/>
          <p:nvPr/>
        </p:nvSpPr>
        <p:spPr>
          <a:xfrm>
            <a:off x="682172" y="4602024"/>
            <a:ext cx="4920342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 to Solve for  θ∗:</a:t>
            </a:r>
            <a:endParaRPr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Analytic solutions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search.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Systematic search.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n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Gradient-based numeric methods.</a:t>
            </a:r>
            <a:endParaRPr/>
          </a:p>
        </p:txBody>
      </p:sp>
      <p:pic>
        <p:nvPicPr>
          <p:cNvPr descr="Optimization Techniques in Machine Learning (part 1) | by Tech-AI-Math ..." id="473" name="Google Shape;47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22688" y="2048175"/>
            <a:ext cx="4537496" cy="303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Bell MT"/>
              <a:buNone/>
            </a:pPr>
            <a:r>
              <a:rPr lang="en"/>
              <a:t>Summary: Machine Learning (ERM framework) </a:t>
            </a:r>
            <a:endParaRPr/>
          </a:p>
        </p:txBody>
      </p:sp>
      <p:sp>
        <p:nvSpPr>
          <p:cNvPr id="479" name="Google Shape;479;p24"/>
          <p:cNvSpPr txBox="1"/>
          <p:nvPr>
            <p:ph idx="1" type="body"/>
          </p:nvPr>
        </p:nvSpPr>
        <p:spPr>
          <a:xfrm>
            <a:off x="838200" y="1690688"/>
            <a:ext cx="5809343" cy="24706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Decision Process/Function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Error Function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lang="en" sz="2500">
                <a:latin typeface="Times New Roman"/>
                <a:ea typeface="Times New Roman"/>
                <a:cs typeface="Times New Roman"/>
                <a:sym typeface="Times New Roman"/>
              </a:rPr>
              <a:t>Optimization Process</a:t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0" name="Google Shape;48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81" name="Google Shape;48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82" name="Google Shape;48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484" name="Google Shape;484;p24"/>
          <p:cNvPicPr preferRelativeResize="0"/>
          <p:nvPr/>
        </p:nvPicPr>
        <p:blipFill rotWithShape="1">
          <a:blip r:embed="rId3">
            <a:alphaModFix/>
          </a:blip>
          <a:srcRect b="12588" l="4292" r="5267" t="7628"/>
          <a:stretch/>
        </p:blipFill>
        <p:spPr>
          <a:xfrm>
            <a:off x="838200" y="3505201"/>
            <a:ext cx="866775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</a:pPr>
            <a:r>
              <a:rPr lang="en"/>
              <a:t>How good is your model?</a:t>
            </a:r>
            <a:endParaRPr/>
          </a:p>
        </p:txBody>
      </p:sp>
      <p:sp>
        <p:nvSpPr>
          <p:cNvPr id="490" name="Google Shape;490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"/>
              <a:t>Idea of Generalization!</a:t>
            </a:r>
            <a:endParaRPr/>
          </a:p>
        </p:txBody>
      </p:sp>
      <p:sp>
        <p:nvSpPr>
          <p:cNvPr id="491" name="Google Shape;49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492" name="Google Shape;49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493" name="Google Shape;49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14"/>
              <a:buFont typeface="Bell MT"/>
              <a:buNone/>
            </a:pPr>
            <a:r>
              <a:rPr lang="en"/>
              <a:t>Bias Variance Tradeoff</a:t>
            </a:r>
            <a:endParaRPr/>
          </a:p>
        </p:txBody>
      </p:sp>
      <p:sp>
        <p:nvSpPr>
          <p:cNvPr id="499" name="Google Shape;499;p26"/>
          <p:cNvSpPr txBox="1"/>
          <p:nvPr>
            <p:ph idx="1" type="body"/>
          </p:nvPr>
        </p:nvSpPr>
        <p:spPr>
          <a:xfrm>
            <a:off x="415600" y="1536633"/>
            <a:ext cx="11360800" cy="21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• Models with high bias will have low variance.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• Models with high variance will have a low bias.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The idea is to find a “</a:t>
            </a:r>
            <a:r>
              <a:rPr b="1" lang="en"/>
              <a:t>sweet spot</a:t>
            </a:r>
            <a:r>
              <a:rPr lang="en"/>
              <a:t>”.</a:t>
            </a:r>
            <a:endParaRPr/>
          </a:p>
        </p:txBody>
      </p:sp>
      <p:cxnSp>
        <p:nvCxnSpPr>
          <p:cNvPr id="500" name="Google Shape;500;p26"/>
          <p:cNvCxnSpPr/>
          <p:nvPr/>
        </p:nvCxnSpPr>
        <p:spPr>
          <a:xfrm flipH="1">
            <a:off x="5846933" y="2799067"/>
            <a:ext cx="20000" cy="366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26"/>
          <p:cNvCxnSpPr/>
          <p:nvPr/>
        </p:nvCxnSpPr>
        <p:spPr>
          <a:xfrm flipH="1" rot="10800000">
            <a:off x="5309133" y="5936700"/>
            <a:ext cx="5837200" cy="4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2" name="Google Shape;502;p26"/>
          <p:cNvSpPr/>
          <p:nvPr/>
        </p:nvSpPr>
        <p:spPr>
          <a:xfrm>
            <a:off x="6076067" y="3137633"/>
            <a:ext cx="4542133" cy="2490200"/>
          </a:xfrm>
          <a:custGeom>
            <a:rect b="b" l="l" r="r" t="t"/>
            <a:pathLst>
              <a:path extrusionOk="0" h="74706" w="136264">
                <a:moveTo>
                  <a:pt x="0" y="0"/>
                </a:moveTo>
                <a:cubicBezTo>
                  <a:pt x="0" y="8439"/>
                  <a:pt x="8661" y="14488"/>
                  <a:pt x="12850" y="21815"/>
                </a:cubicBezTo>
                <a:cubicBezTo>
                  <a:pt x="35064" y="60670"/>
                  <a:pt x="91507" y="74706"/>
                  <a:pt x="136264" y="74706"/>
                </a:cubicBezTo>
              </a:path>
            </a:pathLst>
          </a:custGeom>
          <a:noFill/>
          <a:ln cap="flat" cmpd="sng" w="9525">
            <a:solidFill>
              <a:srgbClr val="3C78D8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6"/>
          <p:cNvSpPr/>
          <p:nvPr/>
        </p:nvSpPr>
        <p:spPr>
          <a:xfrm>
            <a:off x="6086033" y="3994267"/>
            <a:ext cx="4412691" cy="1822896"/>
          </a:xfrm>
          <a:custGeom>
            <a:rect b="b" l="l" r="r" t="t"/>
            <a:pathLst>
              <a:path extrusionOk="0" h="45421" w="121920">
                <a:moveTo>
                  <a:pt x="0" y="45421"/>
                </a:moveTo>
                <a:cubicBezTo>
                  <a:pt x="43369" y="45421"/>
                  <a:pt x="95903" y="34698"/>
                  <a:pt x="121920" y="0"/>
                </a:cubicBezTo>
              </a:path>
            </a:pathLst>
          </a:custGeom>
          <a:noFill/>
          <a:ln cap="flat" cmpd="sng" w="9525">
            <a:solidFill>
              <a:srgbClr val="6AA84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6"/>
          <p:cNvSpPr/>
          <p:nvPr/>
        </p:nvSpPr>
        <p:spPr>
          <a:xfrm>
            <a:off x="6305167" y="2998200"/>
            <a:ext cx="4093771" cy="1941603"/>
          </a:xfrm>
          <a:custGeom>
            <a:rect b="b" l="l" r="r" t="t"/>
            <a:pathLst>
              <a:path extrusionOk="0" h="46591" w="108473">
                <a:moveTo>
                  <a:pt x="0" y="0"/>
                </a:moveTo>
                <a:cubicBezTo>
                  <a:pt x="11746" y="11765"/>
                  <a:pt x="22876" y="24279"/>
                  <a:pt x="35858" y="34664"/>
                </a:cubicBezTo>
                <a:cubicBezTo>
                  <a:pt x="41608" y="39264"/>
                  <a:pt x="47676" y="44806"/>
                  <a:pt x="54983" y="45720"/>
                </a:cubicBezTo>
                <a:cubicBezTo>
                  <a:pt x="64424" y="46901"/>
                  <a:pt x="75109" y="47451"/>
                  <a:pt x="83371" y="42732"/>
                </a:cubicBezTo>
                <a:cubicBezTo>
                  <a:pt x="89756" y="39085"/>
                  <a:pt x="95498" y="34398"/>
                  <a:pt x="101301" y="29883"/>
                </a:cubicBezTo>
                <a:cubicBezTo>
                  <a:pt x="103708" y="28011"/>
                  <a:pt x="105424" y="24205"/>
                  <a:pt x="108473" y="24205"/>
                </a:cubicBezTo>
              </a:path>
            </a:pathLst>
          </a:cu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5" name="Google Shape;505;p26"/>
          <p:cNvCxnSpPr/>
          <p:nvPr/>
        </p:nvCxnSpPr>
        <p:spPr>
          <a:xfrm flipH="1">
            <a:off x="8695733" y="2799067"/>
            <a:ext cx="16000" cy="315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506" name="Google Shape;506;p26"/>
          <p:cNvSpPr txBox="1"/>
          <p:nvPr/>
        </p:nvSpPr>
        <p:spPr>
          <a:xfrm>
            <a:off x="6428700" y="4595934"/>
            <a:ext cx="763200" cy="87609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3C78D8"/>
                </a:solidFill>
                <a:latin typeface="Calibri"/>
                <a:ea typeface="Calibri"/>
                <a:cs typeface="Calibri"/>
                <a:sym typeface="Calibri"/>
              </a:rPr>
              <a:t>Bias</a:t>
            </a:r>
            <a:endParaRPr sz="2400">
              <a:solidFill>
                <a:srgbClr val="3C78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6"/>
          <p:cNvSpPr txBox="1"/>
          <p:nvPr/>
        </p:nvSpPr>
        <p:spPr>
          <a:xfrm>
            <a:off x="9476700" y="4799134"/>
            <a:ext cx="1828800" cy="87609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Variance</a:t>
            </a:r>
            <a:endParaRPr sz="24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6"/>
          <p:cNvSpPr txBox="1"/>
          <p:nvPr/>
        </p:nvSpPr>
        <p:spPr>
          <a:xfrm>
            <a:off x="6986500" y="2997001"/>
            <a:ext cx="1520000" cy="130082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Underfitting zone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6"/>
          <p:cNvSpPr txBox="1"/>
          <p:nvPr/>
        </p:nvSpPr>
        <p:spPr>
          <a:xfrm>
            <a:off x="8815300" y="3010734"/>
            <a:ext cx="1520000" cy="130082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Overfitting zone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26"/>
          <p:cNvSpPr txBox="1"/>
          <p:nvPr/>
        </p:nvSpPr>
        <p:spPr>
          <a:xfrm>
            <a:off x="8815300" y="4011501"/>
            <a:ext cx="1474400" cy="6164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33">
                <a:solidFill>
                  <a:srgbClr val="A61C00"/>
                </a:solidFill>
                <a:latin typeface="Calibri"/>
                <a:ea typeface="Calibri"/>
                <a:cs typeface="Calibri"/>
                <a:sym typeface="Calibri"/>
              </a:rPr>
              <a:t>Generalization error</a:t>
            </a:r>
            <a:endParaRPr sz="933">
              <a:solidFill>
                <a:srgbClr val="A61C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6"/>
          <p:cNvSpPr txBox="1"/>
          <p:nvPr/>
        </p:nvSpPr>
        <p:spPr>
          <a:xfrm>
            <a:off x="10034500" y="5941901"/>
            <a:ext cx="1271200" cy="61647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 complexity</a:t>
            </a:r>
            <a:endParaRPr sz="9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 txBox="1"/>
          <p:nvPr>
            <p:ph type="ctrTitle"/>
          </p:nvPr>
        </p:nvSpPr>
        <p:spPr>
          <a:xfrm>
            <a:off x="402359" y="2264976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75084"/>
              <a:buFont typeface="Bell MT"/>
              <a:buNone/>
            </a:pPr>
            <a:r>
              <a:rPr lang="en"/>
              <a:t>Understanding Classification Task</a:t>
            </a:r>
            <a:br>
              <a:rPr lang="en"/>
            </a:br>
            <a:br>
              <a:rPr lang="en"/>
            </a:br>
            <a:r>
              <a:rPr lang="en" sz="3300"/>
              <a:t>(With Logistic Regression Algorithm) </a:t>
            </a:r>
            <a:endParaRPr sz="3300"/>
          </a:p>
        </p:txBody>
      </p:sp>
      <p:sp>
        <p:nvSpPr>
          <p:cNvPr id="518" name="Google Shape;518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519" name="Google Shape;519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520" name="Google Shape;520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Linear Models</a:t>
            </a:r>
            <a:endParaRPr/>
          </a:p>
        </p:txBody>
      </p:sp>
      <p:sp>
        <p:nvSpPr>
          <p:cNvPr id="526" name="Google Shape;526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527" name="Google Shape;527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528" name="Google Shape;528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28"/>
          <p:cNvSpPr txBox="1"/>
          <p:nvPr>
            <p:ph idx="1" type="body"/>
          </p:nvPr>
        </p:nvSpPr>
        <p:spPr>
          <a:xfrm>
            <a:off x="-23191" y="2124938"/>
            <a:ext cx="611919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alatino Linotype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Separate classes using a linear decision boundary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Simple, interpretable, and computationally efficient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Common examples: Logistic Regression, SVM etc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_images/linear_classification_data.png" id="530" name="Google Shape;530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36309" y="1532283"/>
            <a:ext cx="6773165" cy="4693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Classification</a:t>
            </a:r>
            <a:endParaRPr/>
          </a:p>
        </p:txBody>
      </p:sp>
      <p:sp>
        <p:nvSpPr>
          <p:cNvPr id="536" name="Google Shape;536;p29"/>
          <p:cNvSpPr txBox="1"/>
          <p:nvPr>
            <p:ph idx="1" type="body"/>
          </p:nvPr>
        </p:nvSpPr>
        <p:spPr>
          <a:xfrm>
            <a:off x="415600" y="2663801"/>
            <a:ext cx="113608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We estimate a function that maps input variables to discrete output variables</a:t>
            </a:r>
            <a:endParaRPr/>
          </a:p>
        </p:txBody>
      </p:sp>
      <p:sp>
        <p:nvSpPr>
          <p:cNvPr id="537" name="Google Shape;537;p29"/>
          <p:cNvSpPr txBox="1"/>
          <p:nvPr>
            <p:ph idx="1" type="body"/>
          </p:nvPr>
        </p:nvSpPr>
        <p:spPr>
          <a:xfrm>
            <a:off x="415600" y="1588467"/>
            <a:ext cx="11360800" cy="9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Process of categorizing a given set of data into  classes,</a:t>
            </a:r>
            <a:endParaRPr/>
          </a:p>
        </p:txBody>
      </p:sp>
      <p:sp>
        <p:nvSpPr>
          <p:cNvPr id="538" name="Google Shape;538;p29"/>
          <p:cNvSpPr txBox="1"/>
          <p:nvPr>
            <p:ph idx="1" type="body"/>
          </p:nvPr>
        </p:nvSpPr>
        <p:spPr>
          <a:xfrm>
            <a:off x="415600" y="5126633"/>
            <a:ext cx="11360800" cy="1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Two types of classification task:</a:t>
            </a:r>
            <a:endParaRPr/>
          </a:p>
        </p:txBody>
      </p:sp>
      <p:pic>
        <p:nvPicPr>
          <p:cNvPr id="539" name="Google Shape;53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0503" y="1588467"/>
            <a:ext cx="6291908" cy="4391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33" y="1399275"/>
            <a:ext cx="5735633" cy="4391935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29"/>
          <p:cNvSpPr txBox="1"/>
          <p:nvPr/>
        </p:nvSpPr>
        <p:spPr>
          <a:xfrm>
            <a:off x="2569867" y="5926667"/>
            <a:ext cx="17432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endParaRPr b="1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 txBox="1"/>
          <p:nvPr/>
        </p:nvSpPr>
        <p:spPr>
          <a:xfrm>
            <a:off x="7576551" y="5926667"/>
            <a:ext cx="2566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Multi-class</a:t>
            </a:r>
            <a:endParaRPr b="1"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9"/>
          <p:cNvSpPr txBox="1"/>
          <p:nvPr/>
        </p:nvSpPr>
        <p:spPr>
          <a:xfrm>
            <a:off x="7819200" y="6427200"/>
            <a:ext cx="4372800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Copyright of the images used belongs to creator themselves.</a:t>
            </a:r>
            <a:endParaRPr sz="12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29"/>
          <p:cNvSpPr txBox="1"/>
          <p:nvPr>
            <p:ph idx="1" type="body"/>
          </p:nvPr>
        </p:nvSpPr>
        <p:spPr>
          <a:xfrm>
            <a:off x="667411" y="1445587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396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400"/>
                                        <p:tgtEl>
                                          <p:spTgt spid="5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Take a look at this example</a:t>
            </a:r>
            <a:endParaRPr/>
          </a:p>
        </p:txBody>
      </p:sp>
      <p:graphicFrame>
        <p:nvGraphicFramePr>
          <p:cNvPr id="551" name="Google Shape;551;p30"/>
          <p:cNvGraphicFramePr/>
          <p:nvPr/>
        </p:nvGraphicFramePr>
        <p:xfrm>
          <a:off x="1270000" y="1905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{520D0031-EDFE-4011-87DB-033B128B7D2B}</a:tableStyleId>
              </a:tblPr>
              <a:tblGrid>
                <a:gridCol w="3217325"/>
                <a:gridCol w="3217325"/>
                <a:gridCol w="3217325"/>
              </a:tblGrid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Name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Weight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Is Obese?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Chandler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80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Monica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52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Phoebe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58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Rachel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55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Ross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75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  <a:tr h="528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Joey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79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121900" marL="121900"/>
                </a:tc>
              </a:tr>
            </a:tbl>
          </a:graphicData>
        </a:graphic>
      </p:graphicFrame>
      <p:sp>
        <p:nvSpPr>
          <p:cNvPr id="552" name="Google Shape;552;p3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Logistic Regression Motivation</a:t>
            </a:r>
            <a:endParaRPr/>
          </a:p>
        </p:txBody>
      </p:sp>
      <p:sp>
        <p:nvSpPr>
          <p:cNvPr id="558" name="Google Shape;558;p31"/>
          <p:cNvSpPr txBox="1"/>
          <p:nvPr/>
        </p:nvSpPr>
        <p:spPr>
          <a:xfrm rot="-2700000">
            <a:off x="7535029" y="1190788"/>
            <a:ext cx="1533008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Chandler (80)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31"/>
          <p:cNvSpPr txBox="1"/>
          <p:nvPr/>
        </p:nvSpPr>
        <p:spPr>
          <a:xfrm rot="-2700000">
            <a:off x="7105229" y="1327590"/>
            <a:ext cx="1146079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Joey (79)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31"/>
          <p:cNvSpPr txBox="1"/>
          <p:nvPr/>
        </p:nvSpPr>
        <p:spPr>
          <a:xfrm rot="-2700000">
            <a:off x="4447046" y="3849861"/>
            <a:ext cx="1647841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Monica (52)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31"/>
          <p:cNvSpPr txBox="1"/>
          <p:nvPr/>
        </p:nvSpPr>
        <p:spPr>
          <a:xfrm rot="-2700000">
            <a:off x="4924286" y="4010626"/>
            <a:ext cx="1328229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Rachel (55)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31"/>
          <p:cNvSpPr txBox="1"/>
          <p:nvPr/>
        </p:nvSpPr>
        <p:spPr>
          <a:xfrm rot="-2700000">
            <a:off x="5435935" y="3942854"/>
            <a:ext cx="1384797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Phoebe (58)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1"/>
          <p:cNvSpPr txBox="1"/>
          <p:nvPr/>
        </p:nvSpPr>
        <p:spPr>
          <a:xfrm rot="-2700000">
            <a:off x="6860129" y="4075023"/>
            <a:ext cx="1146079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Ross (75)</a:t>
            </a:r>
            <a:endParaRPr sz="14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4" name="Google Shape;564;p31"/>
          <p:cNvSpPr/>
          <p:nvPr/>
        </p:nvSpPr>
        <p:spPr>
          <a:xfrm>
            <a:off x="59114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31"/>
          <p:cNvSpPr/>
          <p:nvPr/>
        </p:nvSpPr>
        <p:spPr>
          <a:xfrm>
            <a:off x="6622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31"/>
          <p:cNvSpPr/>
          <p:nvPr/>
        </p:nvSpPr>
        <p:spPr>
          <a:xfrm>
            <a:off x="7130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1"/>
          <p:cNvSpPr/>
          <p:nvPr/>
        </p:nvSpPr>
        <p:spPr>
          <a:xfrm>
            <a:off x="7638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1"/>
          <p:cNvSpPr/>
          <p:nvPr/>
        </p:nvSpPr>
        <p:spPr>
          <a:xfrm>
            <a:off x="8146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1"/>
          <p:cNvSpPr/>
          <p:nvPr/>
        </p:nvSpPr>
        <p:spPr>
          <a:xfrm>
            <a:off x="46922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31"/>
          <p:cNvSpPr/>
          <p:nvPr/>
        </p:nvSpPr>
        <p:spPr>
          <a:xfrm>
            <a:off x="50863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1"/>
          <p:cNvSpPr/>
          <p:nvPr/>
        </p:nvSpPr>
        <p:spPr>
          <a:xfrm>
            <a:off x="56005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1"/>
          <p:cNvSpPr/>
          <p:nvPr/>
        </p:nvSpPr>
        <p:spPr>
          <a:xfrm>
            <a:off x="6419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1"/>
          <p:cNvSpPr/>
          <p:nvPr/>
        </p:nvSpPr>
        <p:spPr>
          <a:xfrm>
            <a:off x="6927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4" name="Google Shape;574;p31"/>
          <p:cNvCxnSpPr/>
          <p:nvPr/>
        </p:nvCxnSpPr>
        <p:spPr>
          <a:xfrm rot="10800000">
            <a:off x="4361633" y="1680400"/>
            <a:ext cx="9600" cy="3574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5" name="Google Shape;575;p31"/>
          <p:cNvCxnSpPr/>
          <p:nvPr/>
        </p:nvCxnSpPr>
        <p:spPr>
          <a:xfrm>
            <a:off x="4380967" y="5255200"/>
            <a:ext cx="475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76" name="Google Shape;576;p31"/>
          <p:cNvCxnSpPr/>
          <p:nvPr/>
        </p:nvCxnSpPr>
        <p:spPr>
          <a:xfrm>
            <a:off x="4147833" y="21662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1"/>
          <p:cNvCxnSpPr/>
          <p:nvPr/>
        </p:nvCxnSpPr>
        <p:spPr>
          <a:xfrm>
            <a:off x="4147833" y="49094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8" name="Google Shape;578;p31"/>
          <p:cNvSpPr txBox="1"/>
          <p:nvPr/>
        </p:nvSpPr>
        <p:spPr>
          <a:xfrm>
            <a:off x="2901400" y="1899400"/>
            <a:ext cx="11440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Obese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31"/>
          <p:cNvSpPr txBox="1"/>
          <p:nvPr/>
        </p:nvSpPr>
        <p:spPr>
          <a:xfrm>
            <a:off x="2534533" y="4695700"/>
            <a:ext cx="1466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Obese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31"/>
          <p:cNvSpPr txBox="1"/>
          <p:nvPr/>
        </p:nvSpPr>
        <p:spPr>
          <a:xfrm>
            <a:off x="5582533" y="5305300"/>
            <a:ext cx="1466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Logistic Regression Motivation</a:t>
            </a:r>
            <a:endParaRPr/>
          </a:p>
        </p:txBody>
      </p:sp>
      <p:sp>
        <p:nvSpPr>
          <p:cNvPr id="587" name="Google Shape;587;p32"/>
          <p:cNvSpPr/>
          <p:nvPr/>
        </p:nvSpPr>
        <p:spPr>
          <a:xfrm>
            <a:off x="59114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2"/>
          <p:cNvSpPr/>
          <p:nvPr/>
        </p:nvSpPr>
        <p:spPr>
          <a:xfrm>
            <a:off x="6622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2"/>
          <p:cNvSpPr/>
          <p:nvPr/>
        </p:nvSpPr>
        <p:spPr>
          <a:xfrm>
            <a:off x="7130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2"/>
          <p:cNvSpPr/>
          <p:nvPr/>
        </p:nvSpPr>
        <p:spPr>
          <a:xfrm>
            <a:off x="7638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2"/>
          <p:cNvSpPr/>
          <p:nvPr/>
        </p:nvSpPr>
        <p:spPr>
          <a:xfrm>
            <a:off x="8146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2"/>
          <p:cNvSpPr/>
          <p:nvPr/>
        </p:nvSpPr>
        <p:spPr>
          <a:xfrm>
            <a:off x="46922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2"/>
          <p:cNvSpPr/>
          <p:nvPr/>
        </p:nvSpPr>
        <p:spPr>
          <a:xfrm>
            <a:off x="50863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2"/>
          <p:cNvSpPr/>
          <p:nvPr/>
        </p:nvSpPr>
        <p:spPr>
          <a:xfrm>
            <a:off x="56005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2"/>
          <p:cNvSpPr/>
          <p:nvPr/>
        </p:nvSpPr>
        <p:spPr>
          <a:xfrm>
            <a:off x="6419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2"/>
          <p:cNvSpPr/>
          <p:nvPr/>
        </p:nvSpPr>
        <p:spPr>
          <a:xfrm>
            <a:off x="6927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7" name="Google Shape;597;p32"/>
          <p:cNvCxnSpPr/>
          <p:nvPr/>
        </p:nvCxnSpPr>
        <p:spPr>
          <a:xfrm rot="10800000">
            <a:off x="4361633" y="1680400"/>
            <a:ext cx="9600" cy="3574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8" name="Google Shape;598;p32"/>
          <p:cNvCxnSpPr/>
          <p:nvPr/>
        </p:nvCxnSpPr>
        <p:spPr>
          <a:xfrm>
            <a:off x="4380967" y="5255200"/>
            <a:ext cx="475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99" name="Google Shape;599;p32"/>
          <p:cNvCxnSpPr/>
          <p:nvPr/>
        </p:nvCxnSpPr>
        <p:spPr>
          <a:xfrm>
            <a:off x="4147833" y="21662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32"/>
          <p:cNvCxnSpPr/>
          <p:nvPr/>
        </p:nvCxnSpPr>
        <p:spPr>
          <a:xfrm>
            <a:off x="4147833" y="49094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1" name="Google Shape;601;p32"/>
          <p:cNvSpPr txBox="1"/>
          <p:nvPr/>
        </p:nvSpPr>
        <p:spPr>
          <a:xfrm>
            <a:off x="2901400" y="1899401"/>
            <a:ext cx="11440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2"/>
          <p:cNvSpPr txBox="1"/>
          <p:nvPr/>
        </p:nvSpPr>
        <p:spPr>
          <a:xfrm>
            <a:off x="2534533" y="4695701"/>
            <a:ext cx="14668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2"/>
          <p:cNvSpPr txBox="1"/>
          <p:nvPr/>
        </p:nvSpPr>
        <p:spPr>
          <a:xfrm>
            <a:off x="5582533" y="5305300"/>
            <a:ext cx="1466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In Linear Model</a:t>
            </a:r>
            <a:endParaRPr/>
          </a:p>
        </p:txBody>
      </p:sp>
      <p:sp>
        <p:nvSpPr>
          <p:cNvPr id="610" name="Google Shape;610;p33"/>
          <p:cNvSpPr txBox="1"/>
          <p:nvPr>
            <p:ph idx="1" type="body"/>
          </p:nvPr>
        </p:nvSpPr>
        <p:spPr>
          <a:xfrm>
            <a:off x="415600" y="1536633"/>
            <a:ext cx="11360800" cy="1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We considered using a linear regression model to represent these probabilities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p(X) = β0 + β1 X</a:t>
            </a:r>
            <a:endParaRPr/>
          </a:p>
        </p:txBody>
      </p:sp>
      <p:sp>
        <p:nvSpPr>
          <p:cNvPr id="611" name="Google Shape;611;p33"/>
          <p:cNvSpPr/>
          <p:nvPr/>
        </p:nvSpPr>
        <p:spPr>
          <a:xfrm>
            <a:off x="5859729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3"/>
          <p:cNvSpPr/>
          <p:nvPr/>
        </p:nvSpPr>
        <p:spPr>
          <a:xfrm>
            <a:off x="6279769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3"/>
          <p:cNvSpPr/>
          <p:nvPr/>
        </p:nvSpPr>
        <p:spPr>
          <a:xfrm>
            <a:off x="6579796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3"/>
          <p:cNvSpPr/>
          <p:nvPr/>
        </p:nvSpPr>
        <p:spPr>
          <a:xfrm>
            <a:off x="6879824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3"/>
          <p:cNvSpPr/>
          <p:nvPr/>
        </p:nvSpPr>
        <p:spPr>
          <a:xfrm>
            <a:off x="7179852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3"/>
          <p:cNvSpPr/>
          <p:nvPr/>
        </p:nvSpPr>
        <p:spPr>
          <a:xfrm>
            <a:off x="5139664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3"/>
          <p:cNvSpPr/>
          <p:nvPr/>
        </p:nvSpPr>
        <p:spPr>
          <a:xfrm>
            <a:off x="5372460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3"/>
          <p:cNvSpPr/>
          <p:nvPr/>
        </p:nvSpPr>
        <p:spPr>
          <a:xfrm>
            <a:off x="5676151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3"/>
          <p:cNvSpPr/>
          <p:nvPr/>
        </p:nvSpPr>
        <p:spPr>
          <a:xfrm>
            <a:off x="6159757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3"/>
          <p:cNvSpPr/>
          <p:nvPr/>
        </p:nvSpPr>
        <p:spPr>
          <a:xfrm>
            <a:off x="6459785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1" name="Google Shape;621;p33"/>
          <p:cNvCxnSpPr/>
          <p:nvPr/>
        </p:nvCxnSpPr>
        <p:spPr>
          <a:xfrm rot="10800000">
            <a:off x="4944499" y="3405492"/>
            <a:ext cx="5600" cy="2046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2" name="Google Shape;622;p33"/>
          <p:cNvCxnSpPr/>
          <p:nvPr/>
        </p:nvCxnSpPr>
        <p:spPr>
          <a:xfrm>
            <a:off x="4955848" y="5451492"/>
            <a:ext cx="28056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23" name="Google Shape;623;p33"/>
          <p:cNvCxnSpPr/>
          <p:nvPr/>
        </p:nvCxnSpPr>
        <p:spPr>
          <a:xfrm>
            <a:off x="4818157" y="3683529"/>
            <a:ext cx="22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3"/>
          <p:cNvCxnSpPr/>
          <p:nvPr/>
        </p:nvCxnSpPr>
        <p:spPr>
          <a:xfrm>
            <a:off x="4818157" y="5253576"/>
            <a:ext cx="22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3"/>
          <p:cNvSpPr txBox="1"/>
          <p:nvPr/>
        </p:nvSpPr>
        <p:spPr>
          <a:xfrm>
            <a:off x="3671829" y="3530834"/>
            <a:ext cx="10856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3"/>
          <p:cNvSpPr txBox="1"/>
          <p:nvPr/>
        </p:nvSpPr>
        <p:spPr>
          <a:xfrm>
            <a:off x="3209467" y="5063268"/>
            <a:ext cx="15164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3"/>
          <p:cNvSpPr txBox="1"/>
          <p:nvPr/>
        </p:nvSpPr>
        <p:spPr>
          <a:xfrm>
            <a:off x="5665500" y="5480168"/>
            <a:ext cx="12800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8" name="Google Shape;628;p33"/>
          <p:cNvCxnSpPr/>
          <p:nvPr/>
        </p:nvCxnSpPr>
        <p:spPr>
          <a:xfrm flipH="1">
            <a:off x="4451073" y="3259100"/>
            <a:ext cx="2888400" cy="25212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34"/>
          <p:cNvSpPr txBox="1"/>
          <p:nvPr>
            <p:ph type="title"/>
          </p:nvPr>
        </p:nvSpPr>
        <p:spPr>
          <a:xfrm>
            <a:off x="179329" y="51627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Problem with linear model (In the classification task)</a:t>
            </a:r>
            <a:endParaRPr/>
          </a:p>
        </p:txBody>
      </p:sp>
      <p:sp>
        <p:nvSpPr>
          <p:cNvPr id="634" name="Google Shape;634;p34"/>
          <p:cNvSpPr txBox="1"/>
          <p:nvPr>
            <p:ph idx="1" type="body"/>
          </p:nvPr>
        </p:nvSpPr>
        <p:spPr>
          <a:xfrm>
            <a:off x="399276" y="1534428"/>
            <a:ext cx="11360800" cy="15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We considered using a linear regression model to represent these probabilities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p(X) = w0 + w1 X</a:t>
            </a:r>
            <a:endParaRPr/>
          </a:p>
        </p:txBody>
      </p:sp>
      <p:sp>
        <p:nvSpPr>
          <p:cNvPr id="635" name="Google Shape;635;p34"/>
          <p:cNvSpPr/>
          <p:nvPr/>
        </p:nvSpPr>
        <p:spPr>
          <a:xfrm>
            <a:off x="5859729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4"/>
          <p:cNvSpPr/>
          <p:nvPr/>
        </p:nvSpPr>
        <p:spPr>
          <a:xfrm>
            <a:off x="6279769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4"/>
          <p:cNvSpPr/>
          <p:nvPr/>
        </p:nvSpPr>
        <p:spPr>
          <a:xfrm>
            <a:off x="6579796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4"/>
          <p:cNvSpPr/>
          <p:nvPr/>
        </p:nvSpPr>
        <p:spPr>
          <a:xfrm>
            <a:off x="9038212" y="358632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4"/>
          <p:cNvSpPr/>
          <p:nvPr/>
        </p:nvSpPr>
        <p:spPr>
          <a:xfrm>
            <a:off x="9405601" y="358632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4"/>
          <p:cNvSpPr/>
          <p:nvPr/>
        </p:nvSpPr>
        <p:spPr>
          <a:xfrm>
            <a:off x="5139664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4"/>
          <p:cNvSpPr/>
          <p:nvPr/>
        </p:nvSpPr>
        <p:spPr>
          <a:xfrm>
            <a:off x="5372460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4"/>
          <p:cNvSpPr/>
          <p:nvPr/>
        </p:nvSpPr>
        <p:spPr>
          <a:xfrm>
            <a:off x="5676151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4"/>
          <p:cNvSpPr/>
          <p:nvPr/>
        </p:nvSpPr>
        <p:spPr>
          <a:xfrm>
            <a:off x="6159757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34"/>
          <p:cNvSpPr/>
          <p:nvPr/>
        </p:nvSpPr>
        <p:spPr>
          <a:xfrm>
            <a:off x="6459785" y="5142389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5" name="Google Shape;645;p34"/>
          <p:cNvCxnSpPr/>
          <p:nvPr/>
        </p:nvCxnSpPr>
        <p:spPr>
          <a:xfrm flipH="1" rot="10800000">
            <a:off x="4819647" y="2214874"/>
            <a:ext cx="83804" cy="3266489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6" name="Google Shape;646;p34"/>
          <p:cNvCxnSpPr/>
          <p:nvPr/>
        </p:nvCxnSpPr>
        <p:spPr>
          <a:xfrm>
            <a:off x="4835959" y="5452377"/>
            <a:ext cx="5583948" cy="27791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647" name="Google Shape;647;p34"/>
          <p:cNvCxnSpPr/>
          <p:nvPr/>
        </p:nvCxnSpPr>
        <p:spPr>
          <a:xfrm>
            <a:off x="4818157" y="3669543"/>
            <a:ext cx="22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34"/>
          <p:cNvCxnSpPr/>
          <p:nvPr/>
        </p:nvCxnSpPr>
        <p:spPr>
          <a:xfrm>
            <a:off x="4818157" y="5253576"/>
            <a:ext cx="2292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9" name="Google Shape;649;p34"/>
          <p:cNvSpPr txBox="1"/>
          <p:nvPr/>
        </p:nvSpPr>
        <p:spPr>
          <a:xfrm>
            <a:off x="3664269" y="3487480"/>
            <a:ext cx="109316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4"/>
          <p:cNvSpPr txBox="1"/>
          <p:nvPr/>
        </p:nvSpPr>
        <p:spPr>
          <a:xfrm>
            <a:off x="3219729" y="4946568"/>
            <a:ext cx="1516400" cy="98484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Obese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4"/>
          <p:cNvSpPr txBox="1"/>
          <p:nvPr/>
        </p:nvSpPr>
        <p:spPr>
          <a:xfrm>
            <a:off x="5665500" y="5480168"/>
            <a:ext cx="12800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52" name="Google Shape;652;p34"/>
          <p:cNvCxnSpPr/>
          <p:nvPr/>
        </p:nvCxnSpPr>
        <p:spPr>
          <a:xfrm flipH="1">
            <a:off x="5162951" y="3105019"/>
            <a:ext cx="4302715" cy="2675751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34"/>
          <p:cNvSpPr/>
          <p:nvPr/>
        </p:nvSpPr>
        <p:spPr>
          <a:xfrm>
            <a:off x="6983675" y="3603931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4"/>
          <p:cNvSpPr/>
          <p:nvPr/>
        </p:nvSpPr>
        <p:spPr>
          <a:xfrm>
            <a:off x="7666324" y="3596435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4"/>
          <p:cNvSpPr/>
          <p:nvPr/>
        </p:nvSpPr>
        <p:spPr>
          <a:xfrm>
            <a:off x="7357077" y="3572343"/>
            <a:ext cx="218000" cy="1944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35"/>
          <p:cNvSpPr txBox="1"/>
          <p:nvPr>
            <p:ph type="title"/>
          </p:nvPr>
        </p:nvSpPr>
        <p:spPr>
          <a:xfrm>
            <a:off x="415600" y="304720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The Logistic Model</a:t>
            </a:r>
            <a:endParaRPr/>
          </a:p>
        </p:txBody>
      </p:sp>
      <p:sp>
        <p:nvSpPr>
          <p:cNvPr id="661" name="Google Shape;661;p3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The Logistic Model</a:t>
            </a:r>
            <a:endParaRPr/>
          </a:p>
        </p:txBody>
      </p:sp>
      <p:sp>
        <p:nvSpPr>
          <p:cNvPr id="667" name="Google Shape;667;p36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Rather than modeling the response Y directly, the logistic regression models the probability that Y belongs to a particular category.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Pr( obese = Yes | weight )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One might predict </a:t>
            </a:r>
            <a:r>
              <a:rPr lang="en">
                <a:solidFill>
                  <a:schemeClr val="dk1"/>
                </a:solidFill>
              </a:rPr>
              <a:t>obese = Yes</a:t>
            </a:r>
            <a:r>
              <a:rPr lang="en"/>
              <a:t> for any individual for whose </a:t>
            </a:r>
            <a:r>
              <a:rPr lang="en">
                <a:solidFill>
                  <a:schemeClr val="dk1"/>
                </a:solidFill>
              </a:rPr>
              <a:t>p(weight) &gt; 0.5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"/>
              <a:t>For a more conservative approach, you may choose to use a lower threshold, such as </a:t>
            </a:r>
            <a:r>
              <a:rPr lang="en">
                <a:solidFill>
                  <a:schemeClr val="dk1"/>
                </a:solidFill>
              </a:rPr>
              <a:t>p(weight) &gt; 0.1</a:t>
            </a:r>
            <a:r>
              <a:rPr lang="en"/>
              <a:t>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8" name="Google Shape;668;p3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The Logistic Model</a:t>
            </a:r>
            <a:endParaRPr/>
          </a:p>
        </p:txBody>
      </p:sp>
      <p:sp>
        <p:nvSpPr>
          <p:cNvPr id="674" name="Google Shape;674;p37"/>
          <p:cNvSpPr txBox="1"/>
          <p:nvPr>
            <p:ph idx="1" type="body"/>
          </p:nvPr>
        </p:nvSpPr>
        <p:spPr>
          <a:xfrm>
            <a:off x="415600" y="1536633"/>
            <a:ext cx="11360800" cy="13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2"/>
              <a:buNone/>
            </a:pPr>
            <a:r>
              <a:rPr lang="en"/>
              <a:t>So, a linear model is expressed as a linear function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321"/>
              <a:buNone/>
            </a:pPr>
            <a:r>
              <a:rPr lang="en">
                <a:solidFill>
                  <a:schemeClr val="dk1"/>
                </a:solidFill>
              </a:rPr>
              <a:t>p(X) = w0 + w1 X</a:t>
            </a:r>
            <a:endParaRPr/>
          </a:p>
        </p:txBody>
      </p:sp>
      <p:sp>
        <p:nvSpPr>
          <p:cNvPr id="675" name="Google Shape;675;p37"/>
          <p:cNvSpPr txBox="1"/>
          <p:nvPr/>
        </p:nvSpPr>
        <p:spPr>
          <a:xfrm>
            <a:off x="415600" y="2828868"/>
            <a:ext cx="11360800" cy="1300829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But the logistic model can be expressed as a </a:t>
            </a: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logistic function</a:t>
            </a:r>
            <a:r>
              <a:rPr lang="en" sz="2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a.k.a </a:t>
            </a:r>
            <a:r>
              <a:rPr lang="en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sigmoid function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&lt;math xmlns=&quot;http://www.w3.org/1998/Math/MathML&quot;&gt;&lt;mi&gt;p&lt;/mi&gt;&lt;mfenced&gt;&lt;mi&gt;x&lt;/mi&gt;&lt;/mfenced&gt;&lt;mo&gt;&amp;#xA0;&lt;/mo&gt;&lt;mo&gt;=&lt;/mo&gt;&lt;mo&gt;&amp;#xA0;&lt;/mo&gt;&lt;mfrac&gt;&lt;mn&gt;1&lt;/mn&gt;&lt;mrow&gt;&lt;mn&gt;1&lt;/mn&gt;&lt;mo&gt;+&lt;/mo&gt;&lt;msup&gt;&lt;mi&gt;e&lt;/mi&gt;&lt;mrow&gt;&lt;mo&gt;-&lt;/mo&gt;&lt;mi&gt;x&lt;/mi&gt;&lt;/mrow&gt;&lt;/msup&gt;&lt;/mrow&gt;&lt;/mfrac&gt;&lt;/math&gt;" id="676" name="Google Shape;676;p37" title="p open parentheses x close parentheses space equals space fraction numerator 1 over denominator 1 plus e to the power of negative x end exponent end fraction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4200" y="4096267"/>
            <a:ext cx="3403600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p3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3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The Sigmoid Graph</a:t>
            </a:r>
            <a:endParaRPr/>
          </a:p>
        </p:txBody>
      </p:sp>
      <p:pic>
        <p:nvPicPr>
          <p:cNvPr id="683" name="Google Shape;68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9300" y="1536633"/>
            <a:ext cx="6832800" cy="45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684" name="Google Shape;684;p38"/>
          <p:cNvSpPr txBox="1"/>
          <p:nvPr/>
        </p:nvSpPr>
        <p:spPr>
          <a:xfrm>
            <a:off x="7819200" y="6427200"/>
            <a:ext cx="4372800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Copyright of the images used belongs to creator themselves.</a:t>
            </a:r>
            <a:endParaRPr sz="12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3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3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We need to fit a sigmoid function like below</a:t>
            </a:r>
            <a:endParaRPr/>
          </a:p>
        </p:txBody>
      </p:sp>
      <p:sp>
        <p:nvSpPr>
          <p:cNvPr id="691" name="Google Shape;691;p39"/>
          <p:cNvSpPr/>
          <p:nvPr/>
        </p:nvSpPr>
        <p:spPr>
          <a:xfrm>
            <a:off x="59114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39"/>
          <p:cNvSpPr/>
          <p:nvPr/>
        </p:nvSpPr>
        <p:spPr>
          <a:xfrm>
            <a:off x="6622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39"/>
          <p:cNvSpPr/>
          <p:nvPr/>
        </p:nvSpPr>
        <p:spPr>
          <a:xfrm>
            <a:off x="7130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39"/>
          <p:cNvSpPr/>
          <p:nvPr/>
        </p:nvSpPr>
        <p:spPr>
          <a:xfrm>
            <a:off x="7638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39"/>
          <p:cNvSpPr/>
          <p:nvPr/>
        </p:nvSpPr>
        <p:spPr>
          <a:xfrm>
            <a:off x="8146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39"/>
          <p:cNvSpPr/>
          <p:nvPr/>
        </p:nvSpPr>
        <p:spPr>
          <a:xfrm>
            <a:off x="46922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39"/>
          <p:cNvSpPr/>
          <p:nvPr/>
        </p:nvSpPr>
        <p:spPr>
          <a:xfrm>
            <a:off x="50863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39"/>
          <p:cNvSpPr/>
          <p:nvPr/>
        </p:nvSpPr>
        <p:spPr>
          <a:xfrm>
            <a:off x="56005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39"/>
          <p:cNvSpPr/>
          <p:nvPr/>
        </p:nvSpPr>
        <p:spPr>
          <a:xfrm>
            <a:off x="6419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39"/>
          <p:cNvSpPr/>
          <p:nvPr/>
        </p:nvSpPr>
        <p:spPr>
          <a:xfrm>
            <a:off x="6927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1" name="Google Shape;701;p39"/>
          <p:cNvCxnSpPr/>
          <p:nvPr/>
        </p:nvCxnSpPr>
        <p:spPr>
          <a:xfrm rot="10800000">
            <a:off x="4361633" y="1680400"/>
            <a:ext cx="9600" cy="3574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2" name="Google Shape;702;p39"/>
          <p:cNvCxnSpPr/>
          <p:nvPr/>
        </p:nvCxnSpPr>
        <p:spPr>
          <a:xfrm>
            <a:off x="4380967" y="5255200"/>
            <a:ext cx="475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03" name="Google Shape;703;p39"/>
          <p:cNvCxnSpPr/>
          <p:nvPr/>
        </p:nvCxnSpPr>
        <p:spPr>
          <a:xfrm>
            <a:off x="4147833" y="21662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4" name="Google Shape;704;p39"/>
          <p:cNvCxnSpPr/>
          <p:nvPr/>
        </p:nvCxnSpPr>
        <p:spPr>
          <a:xfrm>
            <a:off x="4147833" y="49094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5" name="Google Shape;705;p39"/>
          <p:cNvSpPr txBox="1"/>
          <p:nvPr/>
        </p:nvSpPr>
        <p:spPr>
          <a:xfrm>
            <a:off x="3443067" y="1899400"/>
            <a:ext cx="548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3443067" y="4715133"/>
            <a:ext cx="548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5582533" y="5305300"/>
            <a:ext cx="1466800" cy="615513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Weight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39"/>
          <p:cNvSpPr/>
          <p:nvPr/>
        </p:nvSpPr>
        <p:spPr>
          <a:xfrm>
            <a:off x="4701534" y="2078767"/>
            <a:ext cx="3814437" cy="2818056"/>
          </a:xfrm>
          <a:custGeom>
            <a:rect b="b" l="l" r="r" t="t"/>
            <a:pathLst>
              <a:path extrusionOk="0" h="82207" w="110446">
                <a:moveTo>
                  <a:pt x="0" y="82180"/>
                </a:moveTo>
                <a:cubicBezTo>
                  <a:pt x="13287" y="82180"/>
                  <a:pt x="27951" y="82610"/>
                  <a:pt x="39341" y="75769"/>
                </a:cubicBezTo>
                <a:cubicBezTo>
                  <a:pt x="42998" y="73573"/>
                  <a:pt x="43637" y="68399"/>
                  <a:pt x="45752" y="64695"/>
                </a:cubicBezTo>
                <a:cubicBezTo>
                  <a:pt x="54971" y="48552"/>
                  <a:pt x="51549" y="25385"/>
                  <a:pt x="64694" y="12240"/>
                </a:cubicBezTo>
                <a:cubicBezTo>
                  <a:pt x="75857" y="1077"/>
                  <a:pt x="94659" y="0"/>
                  <a:pt x="110446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3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4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We need to fit a sigmoid function like below</a:t>
            </a:r>
            <a:endParaRPr/>
          </a:p>
        </p:txBody>
      </p:sp>
      <p:sp>
        <p:nvSpPr>
          <p:cNvPr id="715" name="Google Shape;715;p40"/>
          <p:cNvSpPr/>
          <p:nvPr/>
        </p:nvSpPr>
        <p:spPr>
          <a:xfrm>
            <a:off x="59114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40"/>
          <p:cNvSpPr/>
          <p:nvPr/>
        </p:nvSpPr>
        <p:spPr>
          <a:xfrm>
            <a:off x="6622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40"/>
          <p:cNvSpPr/>
          <p:nvPr/>
        </p:nvSpPr>
        <p:spPr>
          <a:xfrm>
            <a:off x="7130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40"/>
          <p:cNvSpPr/>
          <p:nvPr/>
        </p:nvSpPr>
        <p:spPr>
          <a:xfrm>
            <a:off x="7638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40"/>
          <p:cNvSpPr/>
          <p:nvPr/>
        </p:nvSpPr>
        <p:spPr>
          <a:xfrm>
            <a:off x="8146600" y="19719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40"/>
          <p:cNvSpPr/>
          <p:nvPr/>
        </p:nvSpPr>
        <p:spPr>
          <a:xfrm>
            <a:off x="46922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1" name="Google Shape;721;p40"/>
          <p:cNvSpPr/>
          <p:nvPr/>
        </p:nvSpPr>
        <p:spPr>
          <a:xfrm>
            <a:off x="50863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2" name="Google Shape;722;p40"/>
          <p:cNvSpPr/>
          <p:nvPr/>
        </p:nvSpPr>
        <p:spPr>
          <a:xfrm>
            <a:off x="5600567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0"/>
          <p:cNvSpPr/>
          <p:nvPr/>
        </p:nvSpPr>
        <p:spPr>
          <a:xfrm>
            <a:off x="6419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0"/>
          <p:cNvSpPr/>
          <p:nvPr/>
        </p:nvSpPr>
        <p:spPr>
          <a:xfrm>
            <a:off x="6927400" y="4715133"/>
            <a:ext cx="369200" cy="340000"/>
          </a:xfrm>
          <a:prstGeom prst="ellipse">
            <a:avLst/>
          </a:prstGeom>
          <a:solidFill>
            <a:srgbClr val="3C78D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5" name="Google Shape;725;p40"/>
          <p:cNvCxnSpPr/>
          <p:nvPr/>
        </p:nvCxnSpPr>
        <p:spPr>
          <a:xfrm rot="10800000">
            <a:off x="4361633" y="1680400"/>
            <a:ext cx="9600" cy="3574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6" name="Google Shape;726;p40"/>
          <p:cNvCxnSpPr/>
          <p:nvPr/>
        </p:nvCxnSpPr>
        <p:spPr>
          <a:xfrm>
            <a:off x="4380967" y="5255200"/>
            <a:ext cx="4750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27" name="Google Shape;727;p40"/>
          <p:cNvCxnSpPr/>
          <p:nvPr/>
        </p:nvCxnSpPr>
        <p:spPr>
          <a:xfrm>
            <a:off x="4147833" y="21662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40"/>
          <p:cNvCxnSpPr/>
          <p:nvPr/>
        </p:nvCxnSpPr>
        <p:spPr>
          <a:xfrm>
            <a:off x="4147833" y="4909400"/>
            <a:ext cx="388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40"/>
          <p:cNvSpPr txBox="1"/>
          <p:nvPr/>
        </p:nvSpPr>
        <p:spPr>
          <a:xfrm>
            <a:off x="3443067" y="1899400"/>
            <a:ext cx="548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0"/>
          <p:cNvSpPr txBox="1"/>
          <p:nvPr/>
        </p:nvSpPr>
        <p:spPr>
          <a:xfrm>
            <a:off x="3443067" y="4715134"/>
            <a:ext cx="548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0"/>
          <p:cNvSpPr txBox="1"/>
          <p:nvPr/>
        </p:nvSpPr>
        <p:spPr>
          <a:xfrm>
            <a:off x="5582533" y="5305300"/>
            <a:ext cx="1466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Weight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40"/>
          <p:cNvSpPr/>
          <p:nvPr/>
        </p:nvSpPr>
        <p:spPr>
          <a:xfrm>
            <a:off x="4037507" y="2067077"/>
            <a:ext cx="3814437" cy="2818056"/>
          </a:xfrm>
          <a:custGeom>
            <a:rect b="b" l="l" r="r" t="t"/>
            <a:pathLst>
              <a:path extrusionOk="0" h="82207" w="110446">
                <a:moveTo>
                  <a:pt x="0" y="82180"/>
                </a:moveTo>
                <a:cubicBezTo>
                  <a:pt x="13287" y="82180"/>
                  <a:pt x="27951" y="82610"/>
                  <a:pt x="39341" y="75769"/>
                </a:cubicBezTo>
                <a:cubicBezTo>
                  <a:pt x="42998" y="73573"/>
                  <a:pt x="43637" y="68399"/>
                  <a:pt x="45752" y="64695"/>
                </a:cubicBezTo>
                <a:cubicBezTo>
                  <a:pt x="54971" y="48552"/>
                  <a:pt x="51549" y="25385"/>
                  <a:pt x="64694" y="12240"/>
                </a:cubicBezTo>
                <a:cubicBezTo>
                  <a:pt x="75857" y="1077"/>
                  <a:pt x="94659" y="0"/>
                  <a:pt x="110446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0"/>
          <p:cNvSpPr/>
          <p:nvPr/>
        </p:nvSpPr>
        <p:spPr>
          <a:xfrm>
            <a:off x="4575412" y="2141933"/>
            <a:ext cx="3814437" cy="2818056"/>
          </a:xfrm>
          <a:custGeom>
            <a:rect b="b" l="l" r="r" t="t"/>
            <a:pathLst>
              <a:path extrusionOk="0" h="82207" w="110446">
                <a:moveTo>
                  <a:pt x="0" y="82180"/>
                </a:moveTo>
                <a:cubicBezTo>
                  <a:pt x="13287" y="82180"/>
                  <a:pt x="27951" y="82610"/>
                  <a:pt x="39341" y="75769"/>
                </a:cubicBezTo>
                <a:cubicBezTo>
                  <a:pt x="42998" y="73573"/>
                  <a:pt x="43637" y="68399"/>
                  <a:pt x="45752" y="64695"/>
                </a:cubicBezTo>
                <a:cubicBezTo>
                  <a:pt x="54971" y="48552"/>
                  <a:pt x="51549" y="25385"/>
                  <a:pt x="64694" y="12240"/>
                </a:cubicBezTo>
                <a:cubicBezTo>
                  <a:pt x="75857" y="1077"/>
                  <a:pt x="94659" y="0"/>
                  <a:pt x="110446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0"/>
          <p:cNvSpPr/>
          <p:nvPr/>
        </p:nvSpPr>
        <p:spPr>
          <a:xfrm>
            <a:off x="5164724" y="2177399"/>
            <a:ext cx="3814437" cy="2818056"/>
          </a:xfrm>
          <a:custGeom>
            <a:rect b="b" l="l" r="r" t="t"/>
            <a:pathLst>
              <a:path extrusionOk="0" h="82207" w="110446">
                <a:moveTo>
                  <a:pt x="0" y="82180"/>
                </a:moveTo>
                <a:cubicBezTo>
                  <a:pt x="13287" y="82180"/>
                  <a:pt x="27951" y="82610"/>
                  <a:pt x="39341" y="75769"/>
                </a:cubicBezTo>
                <a:cubicBezTo>
                  <a:pt x="42998" y="73573"/>
                  <a:pt x="43637" y="68399"/>
                  <a:pt x="45752" y="64695"/>
                </a:cubicBezTo>
                <a:cubicBezTo>
                  <a:pt x="54971" y="48552"/>
                  <a:pt x="51549" y="25385"/>
                  <a:pt x="64694" y="12240"/>
                </a:cubicBezTo>
                <a:cubicBezTo>
                  <a:pt x="75857" y="1077"/>
                  <a:pt x="94659" y="0"/>
                  <a:pt x="110446" y="0"/>
                </a:cubicBezTo>
              </a:path>
            </a:pathLst>
          </a:cu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41"/>
          <p:cNvSpPr txBox="1"/>
          <p:nvPr>
            <p:ph type="title"/>
          </p:nvPr>
        </p:nvSpPr>
        <p:spPr>
          <a:xfrm>
            <a:off x="2468291" y="699437"/>
            <a:ext cx="8490400" cy="54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		How?</a:t>
            </a:r>
            <a:endParaRPr/>
          </a:p>
        </p:txBody>
      </p:sp>
      <p:sp>
        <p:nvSpPr>
          <p:cNvPr id="741" name="Google Shape;741;p4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42"/>
          <p:cNvSpPr txBox="1"/>
          <p:nvPr>
            <p:ph type="title"/>
          </p:nvPr>
        </p:nvSpPr>
        <p:spPr>
          <a:xfrm>
            <a:off x="751369" y="2678604"/>
            <a:ext cx="10760147" cy="328980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67"/>
              <a:buFont typeface="Bell MT"/>
              <a:buNone/>
            </a:pPr>
            <a:r>
              <a:rPr lang="en" sz="6000"/>
              <a:t>Gradient Descent</a:t>
            </a:r>
            <a:endParaRPr sz="6000"/>
          </a:p>
        </p:txBody>
      </p:sp>
      <p:sp>
        <p:nvSpPr>
          <p:cNvPr id="747" name="Google Shape;747;p4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753" name="Google Shape;753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754" name="Google Shape;754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5" name="Google Shape;755;p43"/>
          <p:cNvSpPr/>
          <p:nvPr/>
        </p:nvSpPr>
        <p:spPr>
          <a:xfrm>
            <a:off x="-92765" y="593028"/>
            <a:ext cx="9959971" cy="80175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1273C"/>
              </a:buClr>
              <a:buSzPts val="4800"/>
              <a:buFont typeface="Bell MT"/>
              <a:buNone/>
            </a:pPr>
            <a:r>
              <a:rPr b="1" i="0" lang="en" sz="4800" u="none" cap="none" strike="noStrike">
                <a:solidFill>
                  <a:srgbClr val="71273C"/>
                </a:solidFill>
                <a:latin typeface="Bell MT"/>
                <a:ea typeface="Bell MT"/>
                <a:cs typeface="Bell MT"/>
                <a:sym typeface="Bell MT"/>
              </a:rPr>
              <a:t>Gradient: Geometric Interpretation.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0" i="0" lang="en" sz="28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b="0" i="0" lang="en" sz="20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2/5/2025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W05 - Linear Models for Regression.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60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br>
              <a:rPr b="0" i="0" lang="e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lh7-rt.googleusercontent.com/slidesz/AGV_vUcUk2oRP6tq2q2SPqq6SMfT9KUEbqqumLQ8ak_CMudRu8-m9FCFihxgMdghjqpNDyN5rkOtRW7n7HZsCpxQ7hVVyQFXasrUyNbvlWbtNP08x7hk1C9FyTbloqxjpTkWLpFcxBn5yN2UxQNjVmGXAg=s2048?key=SFkKaIK_p-rmhfXecD9q8Ox6" id="756" name="Google Shape;75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3810" y="1437584"/>
            <a:ext cx="5118100" cy="50329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eUsFx455I7UYbACADo5WS9eJyyVGHEivIcNczaT7pe5EnqX6o_hMQwKnE1yDTEXwz0LEWSpIpWzgmF7-nJNV1WVVauToVC1tacoNzdZeQSBZcingRSu5iA09FJ6jUm0IT_pThnaATrSm__VPdWiKA=s2048?key=SFkKaIK_p-rmhfXecD9q8Ox6" id="757" name="Google Shape;757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1898" y="1664662"/>
            <a:ext cx="4823336" cy="155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s://lh7-rt.googleusercontent.com/slidesz/AGV_vUeO0POOiinP2ipU8UGQGoueydpKYGYD6wE26kznfVlW7cLhKk34CwbaMXlTRm-ORAkKFVW2SrM9lHs4gQJCD_TWldxDydAYeA-FVQZ8mKn1i3X74iWlAhS6qfd-foItt8OS7KBjOZoSHNRW3w5NrKs=s2048?key=SFkKaIK_p-rmhfXecD9q8Ox6" id="758" name="Google Shape;758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61910" y="4291071"/>
            <a:ext cx="6643324" cy="18184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Gradient Descent</a:t>
            </a:r>
            <a:endParaRPr/>
          </a:p>
        </p:txBody>
      </p:sp>
      <p:pic>
        <p:nvPicPr>
          <p:cNvPr id="764" name="Google Shape;764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491" y="1244600"/>
            <a:ext cx="9207500" cy="56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5" name="Google Shape;765;p4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4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Gradient Descent</a:t>
            </a:r>
            <a:endParaRPr/>
          </a:p>
        </p:txBody>
      </p:sp>
      <p:pic>
        <p:nvPicPr>
          <p:cNvPr descr="Image result for Gradient Descent positive and negative slope" id="771" name="Google Shape;77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600" y="1727200"/>
            <a:ext cx="10871200" cy="4368800"/>
          </a:xfrm>
          <a:prstGeom prst="rect">
            <a:avLst/>
          </a:prstGeom>
          <a:noFill/>
          <a:ln>
            <a:noFill/>
          </a:ln>
        </p:spPr>
      </p:pic>
      <p:sp>
        <p:nvSpPr>
          <p:cNvPr id="772" name="Google Shape;772;p4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4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Bell MT"/>
              <a:buNone/>
            </a:pPr>
            <a:r>
              <a:rPr lang="en"/>
              <a:t>Learning Rate </a:t>
            </a:r>
            <a:endParaRPr/>
          </a:p>
        </p:txBody>
      </p:sp>
      <p:sp>
        <p:nvSpPr>
          <p:cNvPr id="778" name="Google Shape;778;p4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"/>
              <a:t>How big steps to take? </a:t>
            </a:r>
            <a:endParaRPr/>
          </a:p>
        </p:txBody>
      </p:sp>
      <p:sp>
        <p:nvSpPr>
          <p:cNvPr id="779" name="Google Shape;779;p4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780" name="Google Shape;780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781" name="Google Shape;781;p4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small learning rate makes the model converge slowly to the global minimum loss." id="782" name="Google Shape;782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0700" y="2437605"/>
            <a:ext cx="8191500" cy="3829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4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Goal?</a:t>
            </a:r>
            <a:endParaRPr/>
          </a:p>
        </p:txBody>
      </p:sp>
      <p:sp>
        <p:nvSpPr>
          <p:cNvPr id="788" name="Google Shape;788;p47"/>
          <p:cNvSpPr txBox="1"/>
          <p:nvPr/>
        </p:nvSpPr>
        <p:spPr>
          <a:xfrm>
            <a:off x="560551" y="2032001"/>
            <a:ext cx="10440276" cy="4185322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minimize f(w) iteratively using </a:t>
            </a:r>
            <a:r>
              <a:rPr lang="en" sz="3200">
                <a:solidFill>
                  <a:srgbClr val="000000"/>
                </a:solidFill>
                <a:latin typeface="Book Antiqua"/>
                <a:ea typeface="Book Antiqua"/>
                <a:cs typeface="Book Antiqua"/>
                <a:sym typeface="Book Antiqua"/>
              </a:rPr>
              <a:t>the error on the predictions to update the model in such a way as to reduce the error.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f(w)?</a:t>
            </a:r>
            <a:endParaRPr sz="3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89" name="Google Shape;78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33600" y="3868401"/>
            <a:ext cx="39624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790" name="Google Shape;790;p4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8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Cost Function</a:t>
            </a:r>
            <a:endParaRPr/>
          </a:p>
        </p:txBody>
      </p:sp>
      <p:sp>
        <p:nvSpPr>
          <p:cNvPr id="796" name="Google Shape;796;p48"/>
          <p:cNvSpPr txBox="1"/>
          <p:nvPr>
            <p:ph idx="1" type="body"/>
          </p:nvPr>
        </p:nvSpPr>
        <p:spPr>
          <a:xfrm>
            <a:off x="415600" y="1588467"/>
            <a:ext cx="11360800" cy="1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The cost function for linear regression is </a:t>
            </a:r>
            <a:r>
              <a:rPr b="1" lang="en"/>
              <a:t>J(θ) = </a:t>
            </a:r>
            <a:endParaRPr/>
          </a:p>
        </p:txBody>
      </p:sp>
      <p:pic>
        <p:nvPicPr>
          <p:cNvPr id="797" name="Google Shape;79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2606" y="1356967"/>
            <a:ext cx="3138961" cy="112633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8" name="Google Shape;798;p48"/>
          <p:cNvCxnSpPr/>
          <p:nvPr/>
        </p:nvCxnSpPr>
        <p:spPr>
          <a:xfrm>
            <a:off x="882976" y="2828700"/>
            <a:ext cx="12800" cy="2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48"/>
          <p:cNvCxnSpPr/>
          <p:nvPr/>
        </p:nvCxnSpPr>
        <p:spPr>
          <a:xfrm flipH="1" rot="10800000">
            <a:off x="550032" y="5101627"/>
            <a:ext cx="32788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0" name="Google Shape;800;p48"/>
          <p:cNvSpPr/>
          <p:nvPr/>
        </p:nvSpPr>
        <p:spPr>
          <a:xfrm>
            <a:off x="567767" y="3057967"/>
            <a:ext cx="2218733" cy="2041767"/>
          </a:xfrm>
          <a:custGeom>
            <a:rect b="b" l="l" r="r" t="t"/>
            <a:pathLst>
              <a:path extrusionOk="0" h="61253" w="66562">
                <a:moveTo>
                  <a:pt x="0" y="4183"/>
                </a:moveTo>
                <a:cubicBezTo>
                  <a:pt x="7074" y="25420"/>
                  <a:pt x="13780" y="64642"/>
                  <a:pt x="35859" y="60960"/>
                </a:cubicBezTo>
                <a:cubicBezTo>
                  <a:pt x="44162" y="59575"/>
                  <a:pt x="51514" y="52350"/>
                  <a:pt x="55282" y="44823"/>
                </a:cubicBezTo>
                <a:cubicBezTo>
                  <a:pt x="58831" y="37732"/>
                  <a:pt x="64918" y="31456"/>
                  <a:pt x="66040" y="23607"/>
                </a:cubicBezTo>
                <a:cubicBezTo>
                  <a:pt x="67153" y="15817"/>
                  <a:pt x="66040" y="7869"/>
                  <a:pt x="66040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48"/>
          <p:cNvSpPr txBox="1"/>
          <p:nvPr/>
        </p:nvSpPr>
        <p:spPr>
          <a:xfrm>
            <a:off x="2186117" y="2723601"/>
            <a:ext cx="776800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J(θ)</a:t>
            </a:r>
            <a:endParaRPr sz="9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2" name="Google Shape;802;p48"/>
          <p:cNvCxnSpPr/>
          <p:nvPr/>
        </p:nvCxnSpPr>
        <p:spPr>
          <a:xfrm>
            <a:off x="2789000" y="3904633"/>
            <a:ext cx="0" cy="1215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03" name="Google Shape;803;p48"/>
          <p:cNvSpPr/>
          <p:nvPr/>
        </p:nvSpPr>
        <p:spPr>
          <a:xfrm>
            <a:off x="2709333" y="38149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48"/>
          <p:cNvSpPr txBox="1"/>
          <p:nvPr/>
        </p:nvSpPr>
        <p:spPr>
          <a:xfrm>
            <a:off x="2590000" y="5129933"/>
            <a:ext cx="398000" cy="65642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1" baseline="-25000" lang="en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48"/>
          <p:cNvCxnSpPr/>
          <p:nvPr/>
        </p:nvCxnSpPr>
        <p:spPr>
          <a:xfrm flipH="1" rot="10800000">
            <a:off x="2679433" y="3426700"/>
            <a:ext cx="229200" cy="86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48"/>
          <p:cNvCxnSpPr/>
          <p:nvPr/>
        </p:nvCxnSpPr>
        <p:spPr>
          <a:xfrm flipH="1">
            <a:off x="2687367" y="4133733"/>
            <a:ext cx="12000" cy="98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807" name="Google Shape;807;p48"/>
          <p:cNvSpPr txBox="1"/>
          <p:nvPr/>
        </p:nvSpPr>
        <p:spPr>
          <a:xfrm>
            <a:off x="2386800" y="5129933"/>
            <a:ext cx="398000" cy="656421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b="1" baseline="-25000" lang="en"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8"/>
          <p:cNvSpPr/>
          <p:nvPr/>
        </p:nvSpPr>
        <p:spPr>
          <a:xfrm>
            <a:off x="2607733" y="40181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48"/>
          <p:cNvCxnSpPr/>
          <p:nvPr/>
        </p:nvCxnSpPr>
        <p:spPr>
          <a:xfrm flipH="1" rot="10800000">
            <a:off x="2589800" y="3575967"/>
            <a:ext cx="348800" cy="796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0" name="Google Shape;810;p48"/>
          <p:cNvCxnSpPr/>
          <p:nvPr/>
        </p:nvCxnSpPr>
        <p:spPr>
          <a:xfrm>
            <a:off x="7225625" y="2828700"/>
            <a:ext cx="12800" cy="2759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1" name="Google Shape;811;p48"/>
          <p:cNvCxnSpPr/>
          <p:nvPr/>
        </p:nvCxnSpPr>
        <p:spPr>
          <a:xfrm flipH="1" rot="10800000">
            <a:off x="6892683" y="5101627"/>
            <a:ext cx="32788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2" name="Google Shape;812;p48"/>
          <p:cNvSpPr/>
          <p:nvPr/>
        </p:nvSpPr>
        <p:spPr>
          <a:xfrm>
            <a:off x="6660700" y="3014218"/>
            <a:ext cx="3848053" cy="2097505"/>
          </a:xfrm>
          <a:custGeom>
            <a:rect b="b" l="l" r="r" t="t"/>
            <a:pathLst>
              <a:path extrusionOk="0" h="51167" w="134172">
                <a:moveTo>
                  <a:pt x="0" y="4483"/>
                </a:moveTo>
                <a:cubicBezTo>
                  <a:pt x="2027" y="8032"/>
                  <a:pt x="5416" y="14877"/>
                  <a:pt x="8965" y="12850"/>
                </a:cubicBezTo>
                <a:cubicBezTo>
                  <a:pt x="12023" y="11103"/>
                  <a:pt x="13619" y="3265"/>
                  <a:pt x="16435" y="5379"/>
                </a:cubicBezTo>
                <a:cubicBezTo>
                  <a:pt x="18755" y="7120"/>
                  <a:pt x="16412" y="12137"/>
                  <a:pt x="18826" y="13746"/>
                </a:cubicBezTo>
                <a:cubicBezTo>
                  <a:pt x="21490" y="15521"/>
                  <a:pt x="27375" y="11606"/>
                  <a:pt x="28388" y="14643"/>
                </a:cubicBezTo>
                <a:cubicBezTo>
                  <a:pt x="29471" y="17890"/>
                  <a:pt x="26473" y="24493"/>
                  <a:pt x="29882" y="24803"/>
                </a:cubicBezTo>
                <a:cubicBezTo>
                  <a:pt x="33616" y="25143"/>
                  <a:pt x="35101" y="16154"/>
                  <a:pt x="38548" y="17631"/>
                </a:cubicBezTo>
                <a:cubicBezTo>
                  <a:pt x="39234" y="17925"/>
                  <a:pt x="39169" y="18049"/>
                  <a:pt x="39743" y="18527"/>
                </a:cubicBezTo>
                <a:cubicBezTo>
                  <a:pt x="42948" y="21197"/>
                  <a:pt x="43323" y="26425"/>
                  <a:pt x="46616" y="28986"/>
                </a:cubicBezTo>
                <a:cubicBezTo>
                  <a:pt x="49004" y="30843"/>
                  <a:pt x="54326" y="28806"/>
                  <a:pt x="55282" y="31676"/>
                </a:cubicBezTo>
                <a:cubicBezTo>
                  <a:pt x="56381" y="34977"/>
                  <a:pt x="54823" y="39841"/>
                  <a:pt x="57673" y="41836"/>
                </a:cubicBezTo>
                <a:cubicBezTo>
                  <a:pt x="60341" y="43704"/>
                  <a:pt x="63588" y="36808"/>
                  <a:pt x="66637" y="37951"/>
                </a:cubicBezTo>
                <a:cubicBezTo>
                  <a:pt x="68419" y="38619"/>
                  <a:pt x="66966" y="41745"/>
                  <a:pt x="67235" y="43629"/>
                </a:cubicBezTo>
                <a:cubicBezTo>
                  <a:pt x="67517" y="45601"/>
                  <a:pt x="70083" y="47698"/>
                  <a:pt x="72016" y="47215"/>
                </a:cubicBezTo>
                <a:cubicBezTo>
                  <a:pt x="74616" y="46565"/>
                  <a:pt x="75426" y="41066"/>
                  <a:pt x="77993" y="41836"/>
                </a:cubicBezTo>
                <a:cubicBezTo>
                  <a:pt x="81676" y="42940"/>
                  <a:pt x="81060" y="51643"/>
                  <a:pt x="84866" y="51099"/>
                </a:cubicBezTo>
                <a:cubicBezTo>
                  <a:pt x="88296" y="50609"/>
                  <a:pt x="86788" y="44423"/>
                  <a:pt x="88153" y="41238"/>
                </a:cubicBezTo>
                <a:cubicBezTo>
                  <a:pt x="89364" y="38412"/>
                  <a:pt x="94552" y="39715"/>
                  <a:pt x="96520" y="37353"/>
                </a:cubicBezTo>
                <a:cubicBezTo>
                  <a:pt x="98763" y="34662"/>
                  <a:pt x="95957" y="28495"/>
                  <a:pt x="99209" y="27193"/>
                </a:cubicBezTo>
                <a:cubicBezTo>
                  <a:pt x="101415" y="26310"/>
                  <a:pt x="102810" y="31078"/>
                  <a:pt x="105186" y="31078"/>
                </a:cubicBezTo>
                <a:cubicBezTo>
                  <a:pt x="107593" y="31078"/>
                  <a:pt x="106171" y="25839"/>
                  <a:pt x="108174" y="24504"/>
                </a:cubicBezTo>
                <a:cubicBezTo>
                  <a:pt x="110691" y="22827"/>
                  <a:pt x="114324" y="28871"/>
                  <a:pt x="116840" y="27193"/>
                </a:cubicBezTo>
                <a:cubicBezTo>
                  <a:pt x="119009" y="25747"/>
                  <a:pt x="117170" y="21969"/>
                  <a:pt x="117736" y="19424"/>
                </a:cubicBezTo>
                <a:cubicBezTo>
                  <a:pt x="118343" y="16695"/>
                  <a:pt x="124764" y="21281"/>
                  <a:pt x="126103" y="18826"/>
                </a:cubicBezTo>
                <a:cubicBezTo>
                  <a:pt x="127878" y="15572"/>
                  <a:pt x="126234" y="11321"/>
                  <a:pt x="127299" y="7770"/>
                </a:cubicBezTo>
                <a:cubicBezTo>
                  <a:pt x="128292" y="4458"/>
                  <a:pt x="131727" y="2445"/>
                  <a:pt x="134172" y="0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48"/>
          <p:cNvSpPr/>
          <p:nvPr/>
        </p:nvSpPr>
        <p:spPr>
          <a:xfrm>
            <a:off x="9719733" y="39165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8"/>
          <p:cNvSpPr/>
          <p:nvPr/>
        </p:nvSpPr>
        <p:spPr>
          <a:xfrm>
            <a:off x="9719733" y="41197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8"/>
          <p:cNvSpPr/>
          <p:nvPr/>
        </p:nvSpPr>
        <p:spPr>
          <a:xfrm>
            <a:off x="9618133" y="42213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8"/>
          <p:cNvSpPr/>
          <p:nvPr/>
        </p:nvSpPr>
        <p:spPr>
          <a:xfrm>
            <a:off x="9008533" y="5034167"/>
            <a:ext cx="119600" cy="896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7" name="Google Shape;817;p48"/>
          <p:cNvCxnSpPr>
            <a:endCxn id="816" idx="4"/>
          </p:cNvCxnSpPr>
          <p:nvPr/>
        </p:nvCxnSpPr>
        <p:spPr>
          <a:xfrm flipH="1" rot="10800000">
            <a:off x="8655833" y="5123767"/>
            <a:ext cx="412500" cy="643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18" name="Google Shape;818;p48"/>
          <p:cNvSpPr txBox="1"/>
          <p:nvPr/>
        </p:nvSpPr>
        <p:spPr>
          <a:xfrm>
            <a:off x="7629967" y="5956534"/>
            <a:ext cx="34964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Need to reach here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9" name="Google Shape;819;p48"/>
          <p:cNvCxnSpPr>
            <a:endCxn id="815" idx="1"/>
          </p:cNvCxnSpPr>
          <p:nvPr/>
        </p:nvCxnSpPr>
        <p:spPr>
          <a:xfrm>
            <a:off x="9422948" y="3775189"/>
            <a:ext cx="212700" cy="4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20" name="Google Shape;820;p48"/>
          <p:cNvSpPr txBox="1"/>
          <p:nvPr/>
        </p:nvSpPr>
        <p:spPr>
          <a:xfrm>
            <a:off x="7320133" y="2862500"/>
            <a:ext cx="34964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Stuck in the local minima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1" name="Google Shape;821;p48"/>
          <p:cNvSpPr txBox="1"/>
          <p:nvPr/>
        </p:nvSpPr>
        <p:spPr>
          <a:xfrm>
            <a:off x="3742033" y="3797901"/>
            <a:ext cx="3496400" cy="820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But Logistic Regression has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Non-convex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loss function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48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Cost Function</a:t>
            </a:r>
            <a:endParaRPr/>
          </a:p>
        </p:txBody>
      </p:sp>
      <p:sp>
        <p:nvSpPr>
          <p:cNvPr id="828" name="Google Shape;828;p49"/>
          <p:cNvSpPr txBox="1"/>
          <p:nvPr>
            <p:ph idx="1" type="body"/>
          </p:nvPr>
        </p:nvSpPr>
        <p:spPr>
          <a:xfrm>
            <a:off x="415600" y="1588467"/>
            <a:ext cx="11360800" cy="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Logistic Regression cost function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29" name="Google Shape;82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500" y="1419051"/>
            <a:ext cx="4995333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080" y="3851184"/>
            <a:ext cx="7665107" cy="706107"/>
          </a:xfrm>
          <a:prstGeom prst="rect">
            <a:avLst/>
          </a:prstGeom>
          <a:noFill/>
          <a:ln>
            <a:noFill/>
          </a:ln>
        </p:spPr>
      </p:pic>
      <p:sp>
        <p:nvSpPr>
          <p:cNvPr id="831" name="Google Shape;831;p4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Cost Function (Logistic Regression)</a:t>
            </a:r>
            <a:endParaRPr/>
          </a:p>
        </p:txBody>
      </p:sp>
      <p:sp>
        <p:nvSpPr>
          <p:cNvPr id="837" name="Google Shape;837;p50"/>
          <p:cNvSpPr txBox="1"/>
          <p:nvPr>
            <p:ph idx="1" type="body"/>
          </p:nvPr>
        </p:nvSpPr>
        <p:spPr>
          <a:xfrm>
            <a:off x="415600" y="1588467"/>
            <a:ext cx="11360800" cy="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/>
              <a:t>Logistic Regression cost function</a:t>
            </a:r>
            <a:endParaRPr b="1"/>
          </a:p>
        </p:txBody>
      </p:sp>
      <p:cxnSp>
        <p:nvCxnSpPr>
          <p:cNvPr id="838" name="Google Shape;838;p50"/>
          <p:cNvCxnSpPr/>
          <p:nvPr/>
        </p:nvCxnSpPr>
        <p:spPr>
          <a:xfrm>
            <a:off x="4716776" y="2185800"/>
            <a:ext cx="4800" cy="450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9" name="Google Shape;839;p50"/>
          <p:cNvCxnSpPr/>
          <p:nvPr/>
        </p:nvCxnSpPr>
        <p:spPr>
          <a:xfrm flipH="1" rot="10800000">
            <a:off x="4383832" y="4458727"/>
            <a:ext cx="3278800" cy="26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0" name="Google Shape;840;p50"/>
          <p:cNvSpPr/>
          <p:nvPr/>
        </p:nvSpPr>
        <p:spPr>
          <a:xfrm>
            <a:off x="4735184" y="1651957"/>
            <a:ext cx="2938433" cy="2759600"/>
          </a:xfrm>
          <a:custGeom>
            <a:rect b="b" l="l" r="r" t="t"/>
            <a:pathLst>
              <a:path extrusionOk="0" h="82788" w="88153">
                <a:moveTo>
                  <a:pt x="0" y="0"/>
                </a:moveTo>
                <a:cubicBezTo>
                  <a:pt x="2715" y="21787"/>
                  <a:pt x="8679" y="45734"/>
                  <a:pt x="24204" y="61259"/>
                </a:cubicBezTo>
                <a:cubicBezTo>
                  <a:pt x="28094" y="65149"/>
                  <a:pt x="30596" y="70596"/>
                  <a:pt x="35261" y="73511"/>
                </a:cubicBezTo>
                <a:cubicBezTo>
                  <a:pt x="50440" y="82996"/>
                  <a:pt x="70254" y="82774"/>
                  <a:pt x="88153" y="8277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50"/>
          <p:cNvSpPr/>
          <p:nvPr/>
        </p:nvSpPr>
        <p:spPr>
          <a:xfrm flipH="1">
            <a:off x="4716776" y="2186650"/>
            <a:ext cx="2131944" cy="2238800"/>
          </a:xfrm>
          <a:custGeom>
            <a:rect b="b" l="l" r="r" t="t"/>
            <a:pathLst>
              <a:path extrusionOk="0" h="82788" w="88153">
                <a:moveTo>
                  <a:pt x="0" y="0"/>
                </a:moveTo>
                <a:cubicBezTo>
                  <a:pt x="2715" y="21787"/>
                  <a:pt x="8679" y="45734"/>
                  <a:pt x="24204" y="61259"/>
                </a:cubicBezTo>
                <a:cubicBezTo>
                  <a:pt x="28094" y="65149"/>
                  <a:pt x="30596" y="70596"/>
                  <a:pt x="35261" y="73511"/>
                </a:cubicBezTo>
                <a:cubicBezTo>
                  <a:pt x="50440" y="82996"/>
                  <a:pt x="70254" y="82774"/>
                  <a:pt x="88153" y="82774"/>
                </a:cubicBezTo>
              </a:path>
            </a:pathLst>
          </a:cu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50"/>
          <p:cNvSpPr txBox="1"/>
          <p:nvPr/>
        </p:nvSpPr>
        <p:spPr>
          <a:xfrm>
            <a:off x="7749500" y="4205134"/>
            <a:ext cx="796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aseline="-25000"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50"/>
          <p:cNvSpPr txBox="1"/>
          <p:nvPr/>
        </p:nvSpPr>
        <p:spPr>
          <a:xfrm>
            <a:off x="7036333" y="3378634"/>
            <a:ext cx="1310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log(</a:t>
            </a:r>
            <a: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baseline="-25000"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50"/>
          <p:cNvSpPr txBox="1"/>
          <p:nvPr/>
        </p:nvSpPr>
        <p:spPr>
          <a:xfrm rot="-5400000">
            <a:off x="3489100" y="3225714"/>
            <a:ext cx="17208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cost(h</a:t>
            </a:r>
            <a:r>
              <a:rPr baseline="-25000"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θ</a:t>
            </a:r>
            <a:r>
              <a:rPr lang="en" sz="18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(x</a:t>
            </a:r>
            <a:r>
              <a:rPr lang="en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),y)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50"/>
          <p:cNvSpPr txBox="1"/>
          <p:nvPr/>
        </p:nvSpPr>
        <p:spPr>
          <a:xfrm>
            <a:off x="4277167" y="4498034"/>
            <a:ext cx="5336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6" name="Google Shape;846;p50"/>
          <p:cNvSpPr txBox="1"/>
          <p:nvPr/>
        </p:nvSpPr>
        <p:spPr>
          <a:xfrm>
            <a:off x="7302253" y="4589840"/>
            <a:ext cx="533600" cy="533504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6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7" name="Google Shape;84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79330" y="1461679"/>
            <a:ext cx="4995333" cy="10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5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5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Cost Function</a:t>
            </a:r>
            <a:endParaRPr/>
          </a:p>
        </p:txBody>
      </p:sp>
      <p:sp>
        <p:nvSpPr>
          <p:cNvPr id="854" name="Google Shape;854;p51"/>
          <p:cNvSpPr txBox="1"/>
          <p:nvPr>
            <p:ph idx="1" type="body"/>
          </p:nvPr>
        </p:nvSpPr>
        <p:spPr>
          <a:xfrm>
            <a:off x="415600" y="1588467"/>
            <a:ext cx="11360800" cy="9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Logistic Regression cost function</a:t>
            </a:r>
            <a:endParaRPr b="1">
              <a:solidFill>
                <a:schemeClr val="dk1"/>
              </a:solidFill>
            </a:endParaRPr>
          </a:p>
        </p:txBody>
      </p:sp>
      <p:pic>
        <p:nvPicPr>
          <p:cNvPr id="855" name="Google Shape;85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0500" y="1419051"/>
            <a:ext cx="4995333" cy="10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6" name="Google Shape;856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68080" y="3851184"/>
            <a:ext cx="7665107" cy="706107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5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5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226"/>
              <a:buFont typeface="Book Antiqua"/>
              <a:buNone/>
            </a:pPr>
            <a:r>
              <a:rPr lang="en" sz="3600">
                <a:latin typeface="Book Antiqua"/>
                <a:ea typeface="Book Antiqua"/>
                <a:cs typeface="Book Antiqua"/>
                <a:sym typeface="Book Antiqua"/>
              </a:rPr>
              <a:t>Logistic Regression GD/Derivatives</a:t>
            </a:r>
            <a:endParaRPr/>
          </a:p>
        </p:txBody>
      </p:sp>
      <p:sp>
        <p:nvSpPr>
          <p:cNvPr id="863" name="Google Shape;863;p52"/>
          <p:cNvSpPr txBox="1"/>
          <p:nvPr>
            <p:ph idx="1" type="body"/>
          </p:nvPr>
        </p:nvSpPr>
        <p:spPr>
          <a:xfrm>
            <a:off x="1752600" y="1219200"/>
            <a:ext cx="8686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84156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64" name="Google Shape;864;p52"/>
          <p:cNvSpPr/>
          <p:nvPr/>
        </p:nvSpPr>
        <p:spPr>
          <a:xfrm>
            <a:off x="1524000" y="-169251"/>
            <a:ext cx="333853" cy="3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mparison of ml algorithms small NN, Medium NN and Large NN" id="865" name="Google Shape;865;p52"/>
          <p:cNvSpPr/>
          <p:nvPr/>
        </p:nvSpPr>
        <p:spPr>
          <a:xfrm>
            <a:off x="1679575" y="-144462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8" name="Google Shape;868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9" name="Google Shape;869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0" name="Google Shape;870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2" name="Google Shape;872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3" name="Google Shape;873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97126" y="1830389"/>
            <a:ext cx="2998788" cy="906463"/>
          </a:xfrm>
          <a:prstGeom prst="rect">
            <a:avLst/>
          </a:prstGeom>
          <a:noFill/>
          <a:ln>
            <a:noFill/>
          </a:ln>
        </p:spPr>
      </p:pic>
      <p:sp>
        <p:nvSpPr>
          <p:cNvPr id="874" name="Google Shape;874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5" name="Google Shape;87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57853" y="3778250"/>
            <a:ext cx="6637339" cy="1428751"/>
          </a:xfrm>
          <a:prstGeom prst="rect">
            <a:avLst/>
          </a:prstGeom>
          <a:noFill/>
          <a:ln>
            <a:noFill/>
          </a:ln>
        </p:spPr>
      </p:pic>
      <p:sp>
        <p:nvSpPr>
          <p:cNvPr id="876" name="Google Shape;876;p52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878" name="Google Shape;878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879" name="Google Shape;879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226"/>
              <a:buFont typeface="Book Antiqua"/>
              <a:buNone/>
            </a:pPr>
            <a:r>
              <a:rPr lang="en" sz="3600">
                <a:latin typeface="Book Antiqua"/>
                <a:ea typeface="Book Antiqua"/>
                <a:cs typeface="Book Antiqua"/>
                <a:sym typeface="Book Antiqua"/>
              </a:rPr>
              <a:t>Logistic Regression GD/Derivatives</a:t>
            </a:r>
            <a:endParaRPr/>
          </a:p>
        </p:txBody>
      </p:sp>
      <p:sp>
        <p:nvSpPr>
          <p:cNvPr id="885" name="Google Shape;885;p53"/>
          <p:cNvSpPr txBox="1"/>
          <p:nvPr>
            <p:ph idx="1" type="body"/>
          </p:nvPr>
        </p:nvSpPr>
        <p:spPr>
          <a:xfrm>
            <a:off x="1752600" y="1219200"/>
            <a:ext cx="8686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84156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886" name="Google Shape;886;p53"/>
          <p:cNvSpPr/>
          <p:nvPr/>
        </p:nvSpPr>
        <p:spPr>
          <a:xfrm>
            <a:off x="1524000" y="-169251"/>
            <a:ext cx="333853" cy="3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mparison of ml algorithms small NN, Medium NN and Large NN" id="887" name="Google Shape;887;p53"/>
          <p:cNvSpPr/>
          <p:nvPr/>
        </p:nvSpPr>
        <p:spPr>
          <a:xfrm>
            <a:off x="1679575" y="-144462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8" name="Google Shape;888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9" name="Google Shape;889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4" name="Google Shape;894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3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7" name="Google Shape;89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5" y="1962151"/>
            <a:ext cx="4351337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33589" y="3316933"/>
            <a:ext cx="4594225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27238" y="4672014"/>
            <a:ext cx="4716463" cy="102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5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901" name="Google Shape;901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902" name="Google Shape;902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5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5226"/>
              <a:buFont typeface="Book Antiqua"/>
              <a:buNone/>
            </a:pPr>
            <a:r>
              <a:rPr lang="en" sz="3600">
                <a:latin typeface="Book Antiqua"/>
                <a:ea typeface="Book Antiqua"/>
                <a:cs typeface="Book Antiqua"/>
                <a:sym typeface="Book Antiqua"/>
              </a:rPr>
              <a:t>Logistic Regression</a:t>
            </a:r>
            <a:endParaRPr/>
          </a:p>
        </p:txBody>
      </p:sp>
      <p:sp>
        <p:nvSpPr>
          <p:cNvPr id="908" name="Google Shape;908;p54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-457188" lvl="0" marL="609585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2800">
                <a:latin typeface="Book Antiqua"/>
                <a:ea typeface="Book Antiqua"/>
                <a:cs typeface="Book Antiqua"/>
                <a:sym typeface="Book Antiqua"/>
              </a:rPr>
              <a:t>Thus, parameters of Logistic Regression are updated as below:</a:t>
            </a:r>
            <a:endParaRPr/>
          </a:p>
          <a:p>
            <a:pPr indent="-457188" lvl="0" marL="609585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i="1" lang="en" sz="2800">
                <a:latin typeface="Book Antiqua"/>
                <a:ea typeface="Book Antiqua"/>
                <a:cs typeface="Book Antiqua"/>
                <a:sym typeface="Book Antiqua"/>
              </a:rPr>
              <a:t>	</a:t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131759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  <a:p>
            <a:pPr indent="-284156" lvl="0" marL="284156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2800">
              <a:latin typeface="Book Antiqua"/>
              <a:ea typeface="Book Antiqua"/>
              <a:cs typeface="Book Antiqua"/>
              <a:sym typeface="Book Antiqua"/>
            </a:endParaRPr>
          </a:p>
        </p:txBody>
      </p:sp>
      <p:sp>
        <p:nvSpPr>
          <p:cNvPr id="909" name="Google Shape;909;p54"/>
          <p:cNvSpPr/>
          <p:nvPr/>
        </p:nvSpPr>
        <p:spPr>
          <a:xfrm>
            <a:off x="1524000" y="-169251"/>
            <a:ext cx="333853" cy="3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Image result for comparison of ml algorithms small NN, Medium NN and Large NN" id="910" name="Google Shape;910;p54"/>
          <p:cNvSpPr/>
          <p:nvPr/>
        </p:nvSpPr>
        <p:spPr>
          <a:xfrm>
            <a:off x="1679575" y="-144462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4"/>
          <p:cNvSpPr/>
          <p:nvPr/>
        </p:nvSpPr>
        <p:spPr>
          <a:xfrm>
            <a:off x="1524001" y="-153867"/>
            <a:ext cx="184752" cy="3077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" name="Google Shape;921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4601" y="2743202"/>
            <a:ext cx="2959100" cy="3051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5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923" name="Google Shape;923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924" name="Google Shape;924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5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14"/>
              <a:buFont typeface="Bell MT"/>
              <a:buNone/>
            </a:pPr>
            <a:r>
              <a:rPr lang="en"/>
              <a:t>Multiclass Classification (Soft max Function)</a:t>
            </a:r>
            <a:endParaRPr/>
          </a:p>
        </p:txBody>
      </p:sp>
      <p:pic>
        <p:nvPicPr>
          <p:cNvPr id="930" name="Google Shape;930;p55"/>
          <p:cNvPicPr preferRelativeResize="0"/>
          <p:nvPr/>
        </p:nvPicPr>
        <p:blipFill rotWithShape="1">
          <a:blip r:embed="rId3">
            <a:alphaModFix/>
          </a:blip>
          <a:srcRect b="7607" l="5963" r="14513" t="6438"/>
          <a:stretch/>
        </p:blipFill>
        <p:spPr>
          <a:xfrm>
            <a:off x="214781" y="1671396"/>
            <a:ext cx="5541819" cy="40698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uide to Activation functions in Artificial Neural Networks" id="931" name="Google Shape;931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56600" y="1477433"/>
            <a:ext cx="6019800" cy="46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2" name="Google Shape;932;p5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14"/>
              <a:buFont typeface="Bell MT"/>
              <a:buNone/>
            </a:pPr>
            <a:r>
              <a:rPr lang="en"/>
              <a:t>Cost function generalization </a:t>
            </a:r>
            <a:endParaRPr/>
          </a:p>
        </p:txBody>
      </p:sp>
      <p:pic>
        <p:nvPicPr>
          <p:cNvPr id="938" name="Google Shape;938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3026" y="1479910"/>
            <a:ext cx="7281948" cy="1982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6336" y="4216546"/>
            <a:ext cx="8947265" cy="1972689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56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5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814"/>
              <a:buFont typeface="Bell MT"/>
              <a:buNone/>
            </a:pPr>
            <a:r>
              <a:rPr lang="en"/>
              <a:t>Derivative of Cost function </a:t>
            </a:r>
            <a:endParaRPr/>
          </a:p>
        </p:txBody>
      </p:sp>
      <p:pic>
        <p:nvPicPr>
          <p:cNvPr id="946" name="Google Shape;946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345" y="1925004"/>
            <a:ext cx="8421275" cy="3708917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57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</a:pPr>
            <a:r>
              <a:rPr lang="en"/>
              <a:t>How Good is your Model?</a:t>
            </a:r>
            <a:endParaRPr/>
          </a:p>
        </p:txBody>
      </p:sp>
      <p:sp>
        <p:nvSpPr>
          <p:cNvPr id="953" name="Google Shape;953;p5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"/>
              <a:t>Evaluating Classification Models!</a:t>
            </a:r>
            <a:endParaRPr/>
          </a:p>
        </p:txBody>
      </p:sp>
      <p:sp>
        <p:nvSpPr>
          <p:cNvPr id="954" name="Google Shape;954;p5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955" name="Google Shape;955;p5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956" name="Google Shape;956;p5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59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962" name="Google Shape;962;p59"/>
          <p:cNvSpPr txBox="1"/>
          <p:nvPr>
            <p:ph idx="1" type="body"/>
          </p:nvPr>
        </p:nvSpPr>
        <p:spPr>
          <a:xfrm>
            <a:off x="3413767" y="20645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Positive</a:t>
            </a:r>
            <a:endParaRPr/>
          </a:p>
        </p:txBody>
      </p:sp>
      <p:sp>
        <p:nvSpPr>
          <p:cNvPr id="963" name="Google Shape;963;p59"/>
          <p:cNvSpPr txBox="1"/>
          <p:nvPr>
            <p:ph idx="1" type="body"/>
          </p:nvPr>
        </p:nvSpPr>
        <p:spPr>
          <a:xfrm>
            <a:off x="7700900" y="20645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964" name="Google Shape;964;p59"/>
          <p:cNvSpPr txBox="1"/>
          <p:nvPr>
            <p:ph idx="1" type="body"/>
          </p:nvPr>
        </p:nvSpPr>
        <p:spPr>
          <a:xfrm>
            <a:off x="3413767" y="44989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965" name="Google Shape;965;p59"/>
          <p:cNvSpPr txBox="1"/>
          <p:nvPr>
            <p:ph idx="1" type="body"/>
          </p:nvPr>
        </p:nvSpPr>
        <p:spPr>
          <a:xfrm>
            <a:off x="7700900" y="44989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Negative</a:t>
            </a:r>
            <a:endParaRPr/>
          </a:p>
        </p:txBody>
      </p:sp>
      <p:sp>
        <p:nvSpPr>
          <p:cNvPr id="966" name="Google Shape;966;p59"/>
          <p:cNvSpPr txBox="1"/>
          <p:nvPr>
            <p:ph idx="1" type="body"/>
          </p:nvPr>
        </p:nvSpPr>
        <p:spPr>
          <a:xfrm>
            <a:off x="3467533" y="1460933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+ve</a:t>
            </a:r>
            <a:endParaRPr b="1"/>
          </a:p>
        </p:txBody>
      </p:sp>
      <p:sp>
        <p:nvSpPr>
          <p:cNvPr id="967" name="Google Shape;967;p59"/>
          <p:cNvSpPr txBox="1"/>
          <p:nvPr>
            <p:ph idx="1" type="body"/>
          </p:nvPr>
        </p:nvSpPr>
        <p:spPr>
          <a:xfrm>
            <a:off x="7700900" y="1460933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-ve</a:t>
            </a:r>
            <a:endParaRPr b="1"/>
          </a:p>
        </p:txBody>
      </p:sp>
      <p:sp>
        <p:nvSpPr>
          <p:cNvPr id="968" name="Google Shape;968;p59"/>
          <p:cNvSpPr txBox="1"/>
          <p:nvPr>
            <p:ph idx="1" type="body"/>
          </p:nvPr>
        </p:nvSpPr>
        <p:spPr>
          <a:xfrm>
            <a:off x="826800" y="2064533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+ve</a:t>
            </a:r>
            <a:endParaRPr b="1"/>
          </a:p>
        </p:txBody>
      </p:sp>
      <p:sp>
        <p:nvSpPr>
          <p:cNvPr id="969" name="Google Shape;969;p59"/>
          <p:cNvSpPr txBox="1"/>
          <p:nvPr>
            <p:ph idx="1" type="body"/>
          </p:nvPr>
        </p:nvSpPr>
        <p:spPr>
          <a:xfrm>
            <a:off x="826800" y="4498933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-ve</a:t>
            </a:r>
            <a:endParaRPr b="1"/>
          </a:p>
        </p:txBody>
      </p:sp>
      <p:pic>
        <p:nvPicPr>
          <p:cNvPr id="970" name="Google Shape;97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4900" y="2828134"/>
            <a:ext cx="1317600" cy="131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1" name="Google Shape;97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59533" y="2828134"/>
            <a:ext cx="1317600" cy="131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84251" y="2901834"/>
            <a:ext cx="1317600" cy="131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3" name="Google Shape;973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4634" y="2949100"/>
            <a:ext cx="1243327" cy="12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4" name="Google Shape;97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1084" y="5186834"/>
            <a:ext cx="1317600" cy="1311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5" name="Google Shape;975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6667" y="5262533"/>
            <a:ext cx="1243327" cy="12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4634" y="5117100"/>
            <a:ext cx="1243327" cy="12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7" name="Google Shape;977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22834" y="5117100"/>
            <a:ext cx="1243327" cy="126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8" name="Google Shape;978;p59"/>
          <p:cNvSpPr/>
          <p:nvPr/>
        </p:nvSpPr>
        <p:spPr>
          <a:xfrm>
            <a:off x="3219133" y="1356967"/>
            <a:ext cx="2758000" cy="76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9"/>
          <p:cNvSpPr/>
          <p:nvPr/>
        </p:nvSpPr>
        <p:spPr>
          <a:xfrm>
            <a:off x="314600" y="2018367"/>
            <a:ext cx="2758000" cy="76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0" name="Google Shape;980;p59"/>
          <p:cNvSpPr/>
          <p:nvPr/>
        </p:nvSpPr>
        <p:spPr>
          <a:xfrm>
            <a:off x="7450500" y="1356967"/>
            <a:ext cx="2758000" cy="7636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1" name="Google Shape;981;p59"/>
          <p:cNvSpPr/>
          <p:nvPr/>
        </p:nvSpPr>
        <p:spPr>
          <a:xfrm>
            <a:off x="314600" y="4423233"/>
            <a:ext cx="2758000" cy="763600"/>
          </a:xfrm>
          <a:prstGeom prst="rect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59"/>
          <p:cNvSpPr txBox="1"/>
          <p:nvPr/>
        </p:nvSpPr>
        <p:spPr>
          <a:xfrm>
            <a:off x="7819200" y="6427200"/>
            <a:ext cx="4372800" cy="430847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Copyright of the images used belongs to creator themselves.</a:t>
            </a:r>
            <a:endParaRPr sz="1200">
              <a:solidFill>
                <a:srgbClr val="66666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3" name="Google Shape;983;p59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60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989" name="Google Shape;989;p60"/>
          <p:cNvSpPr txBox="1"/>
          <p:nvPr>
            <p:ph idx="1" type="body"/>
          </p:nvPr>
        </p:nvSpPr>
        <p:spPr>
          <a:xfrm>
            <a:off x="4845433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Positive</a:t>
            </a:r>
            <a:endParaRPr/>
          </a:p>
        </p:txBody>
      </p:sp>
      <p:sp>
        <p:nvSpPr>
          <p:cNvPr id="990" name="Google Shape;990;p60"/>
          <p:cNvSpPr txBox="1"/>
          <p:nvPr>
            <p:ph idx="1" type="body"/>
          </p:nvPr>
        </p:nvSpPr>
        <p:spPr>
          <a:xfrm>
            <a:off x="7379467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991" name="Google Shape;991;p60"/>
          <p:cNvSpPr txBox="1"/>
          <p:nvPr>
            <p:ph idx="1" type="body"/>
          </p:nvPr>
        </p:nvSpPr>
        <p:spPr>
          <a:xfrm>
            <a:off x="4845433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992" name="Google Shape;992;p60"/>
          <p:cNvSpPr txBox="1"/>
          <p:nvPr>
            <p:ph idx="1" type="body"/>
          </p:nvPr>
        </p:nvSpPr>
        <p:spPr>
          <a:xfrm>
            <a:off x="7379467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Negative</a:t>
            </a:r>
            <a:endParaRPr/>
          </a:p>
        </p:txBody>
      </p:sp>
      <p:sp>
        <p:nvSpPr>
          <p:cNvPr id="993" name="Google Shape;993;p60"/>
          <p:cNvSpPr txBox="1"/>
          <p:nvPr>
            <p:ph idx="1" type="body"/>
          </p:nvPr>
        </p:nvSpPr>
        <p:spPr>
          <a:xfrm>
            <a:off x="4899200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+ve</a:t>
            </a:r>
            <a:endParaRPr b="1"/>
          </a:p>
        </p:txBody>
      </p:sp>
      <p:sp>
        <p:nvSpPr>
          <p:cNvPr id="994" name="Google Shape;994;p60"/>
          <p:cNvSpPr txBox="1"/>
          <p:nvPr>
            <p:ph idx="1" type="body"/>
          </p:nvPr>
        </p:nvSpPr>
        <p:spPr>
          <a:xfrm>
            <a:off x="7379467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-ve</a:t>
            </a:r>
            <a:endParaRPr b="1"/>
          </a:p>
        </p:txBody>
      </p:sp>
      <p:sp>
        <p:nvSpPr>
          <p:cNvPr id="995" name="Google Shape;995;p60"/>
          <p:cNvSpPr txBox="1"/>
          <p:nvPr>
            <p:ph idx="1" type="body"/>
          </p:nvPr>
        </p:nvSpPr>
        <p:spPr>
          <a:xfrm>
            <a:off x="2258467" y="26398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+ve</a:t>
            </a:r>
            <a:endParaRPr b="1"/>
          </a:p>
        </p:txBody>
      </p:sp>
      <p:sp>
        <p:nvSpPr>
          <p:cNvPr id="996" name="Google Shape;996;p60"/>
          <p:cNvSpPr txBox="1"/>
          <p:nvPr>
            <p:ph idx="1" type="body"/>
          </p:nvPr>
        </p:nvSpPr>
        <p:spPr>
          <a:xfrm>
            <a:off x="2258467" y="40582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-ve</a:t>
            </a:r>
            <a:endParaRPr b="1"/>
          </a:p>
        </p:txBody>
      </p:sp>
      <p:sp>
        <p:nvSpPr>
          <p:cNvPr id="997" name="Google Shape;997;p60"/>
          <p:cNvSpPr/>
          <p:nvPr/>
        </p:nvSpPr>
        <p:spPr>
          <a:xfrm>
            <a:off x="4838233" y="2679467"/>
            <a:ext cx="2052000" cy="5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60"/>
          <p:cNvSpPr/>
          <p:nvPr/>
        </p:nvSpPr>
        <p:spPr>
          <a:xfrm>
            <a:off x="7379467" y="4058200"/>
            <a:ext cx="2052000" cy="5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9" name="Google Shape;999;p60"/>
          <p:cNvSpPr txBox="1"/>
          <p:nvPr>
            <p:ph idx="1" type="body"/>
          </p:nvPr>
        </p:nvSpPr>
        <p:spPr>
          <a:xfrm>
            <a:off x="2706567" y="5392967"/>
            <a:ext cx="8360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Accuracy </a:t>
            </a:r>
            <a:r>
              <a:rPr lang="en"/>
              <a:t>= (TP+TN) / (TP+TN+FP+FN)</a:t>
            </a:r>
            <a:endParaRPr/>
          </a:p>
        </p:txBody>
      </p:sp>
      <p:sp>
        <p:nvSpPr>
          <p:cNvPr id="1000" name="Google Shape;1000;p60"/>
          <p:cNvSpPr/>
          <p:nvPr/>
        </p:nvSpPr>
        <p:spPr>
          <a:xfrm>
            <a:off x="4553367" y="2573867"/>
            <a:ext cx="5268000" cy="23068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0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007" name="Google Shape;1007;p61"/>
          <p:cNvSpPr txBox="1"/>
          <p:nvPr>
            <p:ph idx="1" type="body"/>
          </p:nvPr>
        </p:nvSpPr>
        <p:spPr>
          <a:xfrm>
            <a:off x="4845433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Positive</a:t>
            </a:r>
            <a:endParaRPr/>
          </a:p>
        </p:txBody>
      </p:sp>
      <p:sp>
        <p:nvSpPr>
          <p:cNvPr id="1008" name="Google Shape;1008;p61"/>
          <p:cNvSpPr txBox="1"/>
          <p:nvPr>
            <p:ph idx="1" type="body"/>
          </p:nvPr>
        </p:nvSpPr>
        <p:spPr>
          <a:xfrm>
            <a:off x="7379467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1009" name="Google Shape;1009;p61"/>
          <p:cNvSpPr txBox="1"/>
          <p:nvPr>
            <p:ph idx="1" type="body"/>
          </p:nvPr>
        </p:nvSpPr>
        <p:spPr>
          <a:xfrm>
            <a:off x="4845433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1010" name="Google Shape;1010;p61"/>
          <p:cNvSpPr txBox="1"/>
          <p:nvPr>
            <p:ph idx="1" type="body"/>
          </p:nvPr>
        </p:nvSpPr>
        <p:spPr>
          <a:xfrm>
            <a:off x="7379467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Negative</a:t>
            </a:r>
            <a:endParaRPr/>
          </a:p>
        </p:txBody>
      </p:sp>
      <p:sp>
        <p:nvSpPr>
          <p:cNvPr id="1011" name="Google Shape;1011;p61"/>
          <p:cNvSpPr txBox="1"/>
          <p:nvPr>
            <p:ph idx="1" type="body"/>
          </p:nvPr>
        </p:nvSpPr>
        <p:spPr>
          <a:xfrm>
            <a:off x="4899200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+ve</a:t>
            </a:r>
            <a:endParaRPr b="1"/>
          </a:p>
        </p:txBody>
      </p:sp>
      <p:sp>
        <p:nvSpPr>
          <p:cNvPr id="1012" name="Google Shape;1012;p61"/>
          <p:cNvSpPr txBox="1"/>
          <p:nvPr>
            <p:ph idx="1" type="body"/>
          </p:nvPr>
        </p:nvSpPr>
        <p:spPr>
          <a:xfrm>
            <a:off x="7379467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-ve</a:t>
            </a:r>
            <a:endParaRPr b="1"/>
          </a:p>
        </p:txBody>
      </p:sp>
      <p:sp>
        <p:nvSpPr>
          <p:cNvPr id="1013" name="Google Shape;1013;p61"/>
          <p:cNvSpPr txBox="1"/>
          <p:nvPr>
            <p:ph idx="1" type="body"/>
          </p:nvPr>
        </p:nvSpPr>
        <p:spPr>
          <a:xfrm>
            <a:off x="2258467" y="26398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+ve</a:t>
            </a:r>
            <a:endParaRPr b="1"/>
          </a:p>
        </p:txBody>
      </p:sp>
      <p:sp>
        <p:nvSpPr>
          <p:cNvPr id="1014" name="Google Shape;1014;p61"/>
          <p:cNvSpPr txBox="1"/>
          <p:nvPr>
            <p:ph idx="1" type="body"/>
          </p:nvPr>
        </p:nvSpPr>
        <p:spPr>
          <a:xfrm>
            <a:off x="2258467" y="40582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-ve</a:t>
            </a:r>
            <a:endParaRPr b="1"/>
          </a:p>
        </p:txBody>
      </p:sp>
      <p:sp>
        <p:nvSpPr>
          <p:cNvPr id="1015" name="Google Shape;1015;p61"/>
          <p:cNvSpPr/>
          <p:nvPr/>
        </p:nvSpPr>
        <p:spPr>
          <a:xfrm>
            <a:off x="4838233" y="2679467"/>
            <a:ext cx="2052000" cy="5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61"/>
          <p:cNvSpPr txBox="1"/>
          <p:nvPr>
            <p:ph idx="1" type="body"/>
          </p:nvPr>
        </p:nvSpPr>
        <p:spPr>
          <a:xfrm>
            <a:off x="3952400" y="53730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Precision </a:t>
            </a:r>
            <a:r>
              <a:rPr lang="en"/>
              <a:t>= TP / (TP+FP)</a:t>
            </a:r>
            <a:endParaRPr/>
          </a:p>
        </p:txBody>
      </p:sp>
      <p:sp>
        <p:nvSpPr>
          <p:cNvPr id="1017" name="Google Shape;1017;p61"/>
          <p:cNvSpPr/>
          <p:nvPr/>
        </p:nvSpPr>
        <p:spPr>
          <a:xfrm>
            <a:off x="4553367" y="2573867"/>
            <a:ext cx="5268000" cy="8552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8" name="Google Shape;1018;p61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62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024" name="Google Shape;1024;p62"/>
          <p:cNvSpPr txBox="1"/>
          <p:nvPr>
            <p:ph idx="1" type="body"/>
          </p:nvPr>
        </p:nvSpPr>
        <p:spPr>
          <a:xfrm>
            <a:off x="4845433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Positive</a:t>
            </a:r>
            <a:endParaRPr/>
          </a:p>
        </p:txBody>
      </p:sp>
      <p:sp>
        <p:nvSpPr>
          <p:cNvPr id="1025" name="Google Shape;1025;p62"/>
          <p:cNvSpPr txBox="1"/>
          <p:nvPr>
            <p:ph idx="1" type="body"/>
          </p:nvPr>
        </p:nvSpPr>
        <p:spPr>
          <a:xfrm>
            <a:off x="7379467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1026" name="Google Shape;1026;p62"/>
          <p:cNvSpPr txBox="1"/>
          <p:nvPr>
            <p:ph idx="1" type="body"/>
          </p:nvPr>
        </p:nvSpPr>
        <p:spPr>
          <a:xfrm>
            <a:off x="4845433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1027" name="Google Shape;1027;p62"/>
          <p:cNvSpPr txBox="1"/>
          <p:nvPr>
            <p:ph idx="1" type="body"/>
          </p:nvPr>
        </p:nvSpPr>
        <p:spPr>
          <a:xfrm>
            <a:off x="7379467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Negative</a:t>
            </a:r>
            <a:endParaRPr/>
          </a:p>
        </p:txBody>
      </p:sp>
      <p:sp>
        <p:nvSpPr>
          <p:cNvPr id="1028" name="Google Shape;1028;p62"/>
          <p:cNvSpPr txBox="1"/>
          <p:nvPr>
            <p:ph idx="1" type="body"/>
          </p:nvPr>
        </p:nvSpPr>
        <p:spPr>
          <a:xfrm>
            <a:off x="4899200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+ve</a:t>
            </a:r>
            <a:endParaRPr b="1"/>
          </a:p>
        </p:txBody>
      </p:sp>
      <p:sp>
        <p:nvSpPr>
          <p:cNvPr id="1029" name="Google Shape;1029;p62"/>
          <p:cNvSpPr txBox="1"/>
          <p:nvPr>
            <p:ph idx="1" type="body"/>
          </p:nvPr>
        </p:nvSpPr>
        <p:spPr>
          <a:xfrm>
            <a:off x="7379467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-ve</a:t>
            </a:r>
            <a:endParaRPr b="1"/>
          </a:p>
        </p:txBody>
      </p:sp>
      <p:sp>
        <p:nvSpPr>
          <p:cNvPr id="1030" name="Google Shape;1030;p62"/>
          <p:cNvSpPr txBox="1"/>
          <p:nvPr>
            <p:ph idx="1" type="body"/>
          </p:nvPr>
        </p:nvSpPr>
        <p:spPr>
          <a:xfrm>
            <a:off x="2258467" y="26398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+ve</a:t>
            </a:r>
            <a:endParaRPr b="1"/>
          </a:p>
        </p:txBody>
      </p:sp>
      <p:sp>
        <p:nvSpPr>
          <p:cNvPr id="1031" name="Google Shape;1031;p62"/>
          <p:cNvSpPr txBox="1"/>
          <p:nvPr>
            <p:ph idx="1" type="body"/>
          </p:nvPr>
        </p:nvSpPr>
        <p:spPr>
          <a:xfrm>
            <a:off x="2258467" y="40582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-ve</a:t>
            </a:r>
            <a:endParaRPr b="1"/>
          </a:p>
        </p:txBody>
      </p:sp>
      <p:sp>
        <p:nvSpPr>
          <p:cNvPr id="1032" name="Google Shape;1032;p62"/>
          <p:cNvSpPr/>
          <p:nvPr/>
        </p:nvSpPr>
        <p:spPr>
          <a:xfrm>
            <a:off x="4838233" y="2679467"/>
            <a:ext cx="2052000" cy="587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2"/>
          <p:cNvSpPr txBox="1"/>
          <p:nvPr>
            <p:ph idx="1" type="body"/>
          </p:nvPr>
        </p:nvSpPr>
        <p:spPr>
          <a:xfrm>
            <a:off x="3952400" y="5373033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Recall </a:t>
            </a:r>
            <a:r>
              <a:rPr lang="en"/>
              <a:t>= TP / (TP+FN)</a:t>
            </a:r>
            <a:endParaRPr/>
          </a:p>
        </p:txBody>
      </p:sp>
      <p:sp>
        <p:nvSpPr>
          <p:cNvPr id="1034" name="Google Shape;1034;p62"/>
          <p:cNvSpPr/>
          <p:nvPr/>
        </p:nvSpPr>
        <p:spPr>
          <a:xfrm>
            <a:off x="4553367" y="2573867"/>
            <a:ext cx="2668000" cy="2107600"/>
          </a:xfrm>
          <a:prstGeom prst="rect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2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63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Confusion Matrix</a:t>
            </a:r>
            <a:endParaRPr/>
          </a:p>
        </p:txBody>
      </p:sp>
      <p:sp>
        <p:nvSpPr>
          <p:cNvPr id="1041" name="Google Shape;1041;p63"/>
          <p:cNvSpPr txBox="1"/>
          <p:nvPr>
            <p:ph idx="1" type="body"/>
          </p:nvPr>
        </p:nvSpPr>
        <p:spPr>
          <a:xfrm>
            <a:off x="4845433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Positive</a:t>
            </a:r>
            <a:endParaRPr/>
          </a:p>
        </p:txBody>
      </p:sp>
      <p:sp>
        <p:nvSpPr>
          <p:cNvPr id="1042" name="Google Shape;1042;p63"/>
          <p:cNvSpPr txBox="1"/>
          <p:nvPr>
            <p:ph idx="1" type="body"/>
          </p:nvPr>
        </p:nvSpPr>
        <p:spPr>
          <a:xfrm>
            <a:off x="7379467" y="26398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Positive</a:t>
            </a:r>
            <a:endParaRPr/>
          </a:p>
        </p:txBody>
      </p:sp>
      <p:sp>
        <p:nvSpPr>
          <p:cNvPr id="1043" name="Google Shape;1043;p63"/>
          <p:cNvSpPr txBox="1"/>
          <p:nvPr>
            <p:ph idx="1" type="body"/>
          </p:nvPr>
        </p:nvSpPr>
        <p:spPr>
          <a:xfrm>
            <a:off x="4845433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False Negative</a:t>
            </a:r>
            <a:endParaRPr/>
          </a:p>
        </p:txBody>
      </p:sp>
      <p:sp>
        <p:nvSpPr>
          <p:cNvPr id="1044" name="Google Shape;1044;p63"/>
          <p:cNvSpPr txBox="1"/>
          <p:nvPr>
            <p:ph idx="1" type="body"/>
          </p:nvPr>
        </p:nvSpPr>
        <p:spPr>
          <a:xfrm>
            <a:off x="7379467" y="4058200"/>
            <a:ext cx="42872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True Negative</a:t>
            </a:r>
            <a:endParaRPr/>
          </a:p>
        </p:txBody>
      </p:sp>
      <p:sp>
        <p:nvSpPr>
          <p:cNvPr id="1045" name="Google Shape;1045;p63"/>
          <p:cNvSpPr txBox="1"/>
          <p:nvPr>
            <p:ph idx="1" type="body"/>
          </p:nvPr>
        </p:nvSpPr>
        <p:spPr>
          <a:xfrm>
            <a:off x="4899200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+ve</a:t>
            </a:r>
            <a:endParaRPr b="1"/>
          </a:p>
        </p:txBody>
      </p:sp>
      <p:sp>
        <p:nvSpPr>
          <p:cNvPr id="1046" name="Google Shape;1046;p63"/>
          <p:cNvSpPr txBox="1"/>
          <p:nvPr>
            <p:ph idx="1" type="body"/>
          </p:nvPr>
        </p:nvSpPr>
        <p:spPr>
          <a:xfrm>
            <a:off x="7379467" y="2036200"/>
            <a:ext cx="2867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Actually -ve</a:t>
            </a:r>
            <a:endParaRPr b="1"/>
          </a:p>
        </p:txBody>
      </p:sp>
      <p:sp>
        <p:nvSpPr>
          <p:cNvPr id="1047" name="Google Shape;1047;p63"/>
          <p:cNvSpPr txBox="1"/>
          <p:nvPr>
            <p:ph idx="1" type="body"/>
          </p:nvPr>
        </p:nvSpPr>
        <p:spPr>
          <a:xfrm>
            <a:off x="2258467" y="26398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+ve</a:t>
            </a:r>
            <a:endParaRPr b="1"/>
          </a:p>
        </p:txBody>
      </p:sp>
      <p:sp>
        <p:nvSpPr>
          <p:cNvPr id="1048" name="Google Shape;1048;p63"/>
          <p:cNvSpPr txBox="1"/>
          <p:nvPr>
            <p:ph idx="1" type="body"/>
          </p:nvPr>
        </p:nvSpPr>
        <p:spPr>
          <a:xfrm>
            <a:off x="2258467" y="4058200"/>
            <a:ext cx="30636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b="1" lang="en"/>
              <a:t>Predicted -ve</a:t>
            </a:r>
            <a:endParaRPr b="1"/>
          </a:p>
        </p:txBody>
      </p:sp>
      <p:sp>
        <p:nvSpPr>
          <p:cNvPr id="1049" name="Google Shape;1049;p63"/>
          <p:cNvSpPr txBox="1"/>
          <p:nvPr>
            <p:ph idx="1" type="body"/>
          </p:nvPr>
        </p:nvSpPr>
        <p:spPr>
          <a:xfrm>
            <a:off x="2370667" y="5233567"/>
            <a:ext cx="7759600" cy="1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800"/>
              <a:buNone/>
            </a:pPr>
            <a:r>
              <a:rPr b="1" lang="en"/>
              <a:t>F1 Score</a:t>
            </a:r>
            <a:r>
              <a:rPr lang="en"/>
              <a:t> = 2 * Precision * Recall / (Precision+Recall)</a:t>
            </a:r>
            <a:endParaRPr/>
          </a:p>
        </p:txBody>
      </p:sp>
      <p:sp>
        <p:nvSpPr>
          <p:cNvPr id="1050" name="Google Shape;1050;p63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4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AUC-ROC Curve</a:t>
            </a:r>
            <a:endParaRPr/>
          </a:p>
        </p:txBody>
      </p:sp>
      <p:sp>
        <p:nvSpPr>
          <p:cNvPr id="1056" name="Google Shape;1056;p64"/>
          <p:cNvSpPr txBox="1"/>
          <p:nvPr>
            <p:ph idx="1" type="body"/>
          </p:nvPr>
        </p:nvSpPr>
        <p:spPr>
          <a:xfrm>
            <a:off x="415600" y="2352067"/>
            <a:ext cx="11360800" cy="11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2162"/>
              <a:buNone/>
            </a:pPr>
            <a:r>
              <a:rPr lang="en"/>
              <a:t>ROC (Receiver Operating Characteristic) curve is a visualization of false positive rate (x-axis) and the true positive rate (y-axis).</a:t>
            </a:r>
            <a:endParaRPr/>
          </a:p>
        </p:txBody>
      </p:sp>
      <p:sp>
        <p:nvSpPr>
          <p:cNvPr id="1057" name="Google Shape;1057;p64"/>
          <p:cNvSpPr txBox="1"/>
          <p:nvPr>
            <p:ph idx="1" type="body"/>
          </p:nvPr>
        </p:nvSpPr>
        <p:spPr>
          <a:xfrm>
            <a:off x="415600" y="1588467"/>
            <a:ext cx="78120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ct val="117647"/>
              <a:buNone/>
            </a:pPr>
            <a:r>
              <a:rPr lang="en"/>
              <a:t>How good the model can predict each classes</a:t>
            </a:r>
            <a:endParaRPr/>
          </a:p>
        </p:txBody>
      </p:sp>
      <p:cxnSp>
        <p:nvCxnSpPr>
          <p:cNvPr id="1058" name="Google Shape;1058;p64"/>
          <p:cNvCxnSpPr/>
          <p:nvPr/>
        </p:nvCxnSpPr>
        <p:spPr>
          <a:xfrm>
            <a:off x="4233332" y="3526067"/>
            <a:ext cx="14000" cy="302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64"/>
          <p:cNvCxnSpPr/>
          <p:nvPr/>
        </p:nvCxnSpPr>
        <p:spPr>
          <a:xfrm flipH="1" rot="10800000">
            <a:off x="3864767" y="6020787"/>
            <a:ext cx="3629600" cy="2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0" name="Google Shape;1060;p64"/>
          <p:cNvSpPr txBox="1"/>
          <p:nvPr/>
        </p:nvSpPr>
        <p:spPr>
          <a:xfrm rot="-5400000">
            <a:off x="3088533" y="4597426"/>
            <a:ext cx="1817600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True positive rate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1" name="Google Shape;1061;p64"/>
          <p:cNvSpPr txBox="1"/>
          <p:nvPr/>
        </p:nvSpPr>
        <p:spPr>
          <a:xfrm>
            <a:off x="4636433" y="6082467"/>
            <a:ext cx="1817600" cy="471948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67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False positive rate</a:t>
            </a:r>
            <a:endParaRPr sz="18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62" name="Google Shape;1062;p64"/>
          <p:cNvCxnSpPr/>
          <p:nvPr/>
        </p:nvCxnSpPr>
        <p:spPr>
          <a:xfrm flipH="1" rot="10800000">
            <a:off x="4253267" y="3506233"/>
            <a:ext cx="2918400" cy="25300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3" name="Google Shape;1063;p64"/>
          <p:cNvSpPr/>
          <p:nvPr/>
        </p:nvSpPr>
        <p:spPr>
          <a:xfrm>
            <a:off x="4273167" y="3486267"/>
            <a:ext cx="2898600" cy="2579867"/>
          </a:xfrm>
          <a:custGeom>
            <a:rect b="b" l="l" r="r" t="t"/>
            <a:pathLst>
              <a:path extrusionOk="0" h="77396" w="86958">
                <a:moveTo>
                  <a:pt x="0" y="77396"/>
                </a:moveTo>
                <a:cubicBezTo>
                  <a:pt x="0" y="67228"/>
                  <a:pt x="10394" y="59895"/>
                  <a:pt x="14941" y="50800"/>
                </a:cubicBezTo>
                <a:cubicBezTo>
                  <a:pt x="28079" y="24524"/>
                  <a:pt x="57581" y="0"/>
                  <a:pt x="86958" y="0"/>
                </a:cubicBezTo>
              </a:path>
            </a:pathLst>
          </a:custGeom>
          <a:noFill/>
          <a:ln cap="flat" cmpd="sng" w="9525">
            <a:solidFill>
              <a:srgbClr val="F6B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64"/>
          <p:cNvSpPr/>
          <p:nvPr/>
        </p:nvSpPr>
        <p:spPr>
          <a:xfrm>
            <a:off x="4253267" y="3496233"/>
            <a:ext cx="2789000" cy="2540000"/>
          </a:xfrm>
          <a:custGeom>
            <a:rect b="b" l="l" r="r" t="t"/>
            <a:pathLst>
              <a:path extrusionOk="0" h="76200" w="83670">
                <a:moveTo>
                  <a:pt x="0" y="76200"/>
                </a:moveTo>
                <a:cubicBezTo>
                  <a:pt x="2736" y="62483"/>
                  <a:pt x="8528" y="49555"/>
                  <a:pt x="12550" y="36158"/>
                </a:cubicBezTo>
                <a:cubicBezTo>
                  <a:pt x="15484" y="26383"/>
                  <a:pt x="16479" y="13324"/>
                  <a:pt x="25400" y="8367"/>
                </a:cubicBezTo>
                <a:cubicBezTo>
                  <a:pt x="35177" y="2935"/>
                  <a:pt x="46841" y="1412"/>
                  <a:pt x="57971" y="299"/>
                </a:cubicBezTo>
                <a:cubicBezTo>
                  <a:pt x="66495" y="-554"/>
                  <a:pt x="75359" y="2079"/>
                  <a:pt x="83670" y="0"/>
                </a:cubicBezTo>
              </a:path>
            </a:pathLst>
          </a:custGeom>
          <a:noFill/>
          <a:ln cap="flat" cmpd="sng" w="9525">
            <a:solidFill>
              <a:srgbClr val="FFD9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4"/>
          <p:cNvSpPr/>
          <p:nvPr/>
        </p:nvSpPr>
        <p:spPr>
          <a:xfrm>
            <a:off x="4253268" y="3400819"/>
            <a:ext cx="2938433" cy="2605533"/>
          </a:xfrm>
          <a:custGeom>
            <a:rect b="b" l="l" r="r" t="t"/>
            <a:pathLst>
              <a:path extrusionOk="0" h="78166" w="88153">
                <a:moveTo>
                  <a:pt x="0" y="78166"/>
                </a:moveTo>
                <a:cubicBezTo>
                  <a:pt x="0" y="63999"/>
                  <a:pt x="2390" y="49900"/>
                  <a:pt x="2390" y="35733"/>
                </a:cubicBezTo>
                <a:cubicBezTo>
                  <a:pt x="2390" y="25404"/>
                  <a:pt x="-639" y="12887"/>
                  <a:pt x="5976" y="4954"/>
                </a:cubicBezTo>
                <a:cubicBezTo>
                  <a:pt x="9720" y="464"/>
                  <a:pt x="17192" y="1352"/>
                  <a:pt x="23009" y="770"/>
                </a:cubicBezTo>
                <a:cubicBezTo>
                  <a:pt x="33416" y="-271"/>
                  <a:pt x="44007" y="-229"/>
                  <a:pt x="54386" y="1069"/>
                </a:cubicBezTo>
                <a:cubicBezTo>
                  <a:pt x="62298" y="2058"/>
                  <a:pt x="70317" y="1966"/>
                  <a:pt x="78291" y="1966"/>
                </a:cubicBezTo>
                <a:cubicBezTo>
                  <a:pt x="81584" y="1966"/>
                  <a:pt x="85822" y="236"/>
                  <a:pt x="88153" y="2563"/>
                </a:cubicBezTo>
              </a:path>
            </a:pathLst>
          </a:custGeom>
          <a:noFill/>
          <a:ln cap="flat" cmpd="sng" w="952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6" name="Google Shape;1066;p64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6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Bell MT"/>
              <a:buNone/>
            </a:pPr>
            <a:r>
              <a:rPr lang="en"/>
              <a:t>Discussion?</a:t>
            </a:r>
            <a:endParaRPr/>
          </a:p>
        </p:txBody>
      </p:sp>
      <p:sp>
        <p:nvSpPr>
          <p:cNvPr id="1072" name="Google Shape;1072;p65"/>
          <p:cNvSpPr txBox="1"/>
          <p:nvPr>
            <p:ph idx="12" type="sldNum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66"/>
          <p:cNvSpPr txBox="1"/>
          <p:nvPr>
            <p:ph type="ctrTitle"/>
          </p:nvPr>
        </p:nvSpPr>
        <p:spPr>
          <a:xfrm>
            <a:off x="1030514" y="369139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Bell MT"/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1078" name="Google Shape;1078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3/2/2025</a:t>
            </a:r>
            <a:endParaRPr/>
          </a:p>
        </p:txBody>
      </p:sp>
      <p:sp>
        <p:nvSpPr>
          <p:cNvPr id="1079" name="Google Shape;1079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L02 – Components of Machine Learning</a:t>
            </a:r>
            <a:endParaRPr/>
          </a:p>
        </p:txBody>
      </p:sp>
      <p:sp>
        <p:nvSpPr>
          <p:cNvPr id="1080" name="Google Shape;1080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What is Machine Learning? - Machine Learning" id="1081" name="Google Shape;108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3315" y="279400"/>
            <a:ext cx="5715000" cy="428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2024-10-24T06:44:31Z</dcterms:created>
  <dc:creator>simangiri@outlook.com</dc:creator>
</cp:coreProperties>
</file>